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8" r:id="rId3"/>
    <p:sldId id="271" r:id="rId4"/>
    <p:sldId id="261" r:id="rId5"/>
    <p:sldId id="263" r:id="rId6"/>
    <p:sldId id="262" r:id="rId7"/>
    <p:sldId id="264" r:id="rId8"/>
    <p:sldId id="265" r:id="rId9"/>
    <p:sldId id="266" r:id="rId10"/>
    <p:sldId id="270" r:id="rId11"/>
    <p:sldId id="2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6CD021-2C9D-49EF-BB65-5A81CC010D3E}" v="405" dt="2026-10-16T05:50:36.775"/>
    <p1510:client id="{CE5F5B59-5306-4908-98F1-47AE87C99F09}" v="479" dt="2026-10-15T19:14:28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FE3850-D16D-4EE4-8611-A11FAB66D20B}" type="datetimeFigureOut"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F4C750-F6CD-44A4-9423-859BD3173BB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963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942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528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3">
            <a:extLst>
              <a:ext uri="{FF2B5EF4-FFF2-40B4-BE49-F238E27FC236}">
                <a16:creationId xmlns:a16="http://schemas.microsoft.com/office/drawing/2014/main" id="{92C52860-29C8-E645-4651-25AC0D3AA9A1}"/>
              </a:ext>
            </a:extLst>
          </p:cNvPr>
          <p:cNvSpPr/>
          <p:nvPr/>
        </p:nvSpPr>
        <p:spPr>
          <a:xfrm>
            <a:off x="869928" y="3082494"/>
            <a:ext cx="6667333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5B6570"/>
                </a:solidFill>
                <a:latin typeface="Atkinson Hyperlegible Next"/>
                <a:ea typeface="Atkinson Hyperlegible Next" pitchFamily="34" charset="-122"/>
                <a:cs typeface="Atkinson Hyperlegible Next" pitchFamily="34" charset="-120"/>
              </a:rPr>
              <a:t>Timeouts and Circuit Breakers</a:t>
            </a:r>
            <a:endParaRPr lang="en-US" sz="1600">
              <a:latin typeface="Atkinson Hyperlegible Next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312129EA-6009-ADCD-A52A-3E17220EE4D7}"/>
              </a:ext>
            </a:extLst>
          </p:cNvPr>
          <p:cNvSpPr/>
          <p:nvPr/>
        </p:nvSpPr>
        <p:spPr>
          <a:xfrm>
            <a:off x="869928" y="1877782"/>
            <a:ext cx="6057748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92000"/>
              </a:lnSpc>
              <a:buNone/>
            </a:pPr>
            <a:r>
              <a:rPr lang="en-US" sz="3400" b="1" kern="100" spc="-34" dirty="0">
                <a:solidFill>
                  <a:srgbClr val="000000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Don’t Let a Slow Bank Break Our App</a:t>
            </a:r>
            <a:endParaRPr lang="en-US" sz="34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56E7836-E524-3434-3644-65C311BD52AC}"/>
              </a:ext>
            </a:extLst>
          </p:cNvPr>
          <p:cNvSpPr/>
          <p:nvPr/>
        </p:nvSpPr>
        <p:spPr>
          <a:xfrm>
            <a:off x="869928" y="1415918"/>
            <a:ext cx="666733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84" dirty="0">
                <a:solidFill>
                  <a:srgbClr val="5B6570"/>
                </a:solidFill>
                <a:latin typeface="B612 Mono"/>
                <a:ea typeface="B612 Mono"/>
                <a:cs typeface="B612 Mono" pitchFamily="34" charset="-120"/>
              </a:rPr>
              <a:t>KAASUPAY · SURE TRUST FULL STACK BACKEND INTERNSHIP</a:t>
            </a:r>
            <a:endParaRPr lang="en-US" sz="1100">
              <a:latin typeface="B612 Mono"/>
              <a:ea typeface="B612 Mono"/>
            </a:endParaRP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127FCD80-5242-D878-FF55-260876A1FA27}"/>
              </a:ext>
            </a:extLst>
          </p:cNvPr>
          <p:cNvSpPr/>
          <p:nvPr/>
        </p:nvSpPr>
        <p:spPr>
          <a:xfrm>
            <a:off x="11224777" y="5836931"/>
            <a:ext cx="331615" cy="298093"/>
          </a:xfrm>
          <a:prstGeom prst="roundRect">
            <a:avLst>
              <a:gd name="adj" fmla="val 8246"/>
            </a:avLst>
          </a:prstGeom>
          <a:solidFill>
            <a:srgbClr val="DAD6F5"/>
          </a:solidFill>
          <a:ln/>
        </p:spPr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8D8B5993-FB21-04A2-2BDC-A26AC7BEB6A7}"/>
              </a:ext>
            </a:extLst>
          </p:cNvPr>
          <p:cNvSpPr/>
          <p:nvPr/>
        </p:nvSpPr>
        <p:spPr>
          <a:xfrm>
            <a:off x="11310559" y="5968231"/>
            <a:ext cx="174652" cy="24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67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01</a:t>
            </a:r>
            <a:endParaRPr lang="en-US" sz="11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B0C2C77-0979-AF88-8243-A98A0ADFA866}"/>
              </a:ext>
            </a:extLst>
          </p:cNvPr>
          <p:cNvSpPr/>
          <p:nvPr/>
        </p:nvSpPr>
        <p:spPr>
          <a:xfrm>
            <a:off x="870544" y="5106619"/>
            <a:ext cx="5814187" cy="748981"/>
          </a:xfrm>
          <a:prstGeom prst="roundRect">
            <a:avLst>
              <a:gd name="adj" fmla="val 1808"/>
            </a:avLst>
          </a:prstGeom>
          <a:solidFill>
            <a:srgbClr val="E8E5FA"/>
          </a:solidFill>
          <a:ln w="12700">
            <a:solidFill>
              <a:srgbClr val="4C3BCF"/>
            </a:solidFill>
            <a:prstDash val="solid"/>
          </a:ln>
        </p:spPr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1AA6ABEE-1FB7-8C4F-06FA-9A5D2E3D8407}"/>
              </a:ext>
            </a:extLst>
          </p:cNvPr>
          <p:cNvSpPr/>
          <p:nvPr/>
        </p:nvSpPr>
        <p:spPr>
          <a:xfrm>
            <a:off x="9711214" y="5841783"/>
            <a:ext cx="1364649" cy="389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100" b="1" kern="100" spc="84">
                <a:solidFill>
                  <a:srgbClr val="5B6570"/>
                </a:solidFill>
                <a:latin typeface="B612 Mono"/>
                <a:ea typeface="B612 Mono"/>
              </a:rPr>
              <a:t>PRESENTED BY </a:t>
            </a:r>
          </a:p>
          <a:p>
            <a:r>
              <a:rPr lang="en-US" sz="1100" b="1" kern="100" spc="84">
                <a:solidFill>
                  <a:srgbClr val="5B6570"/>
                </a:solidFill>
                <a:latin typeface="B612 Mono"/>
                <a:ea typeface="B612 Mono"/>
              </a:rPr>
              <a:t>SINDHU NELLURI</a:t>
            </a:r>
          </a:p>
        </p:txBody>
      </p:sp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4B883E9E-249A-018E-2A8D-B23032A78E86}"/>
              </a:ext>
            </a:extLst>
          </p:cNvPr>
          <p:cNvSpPr/>
          <p:nvPr/>
        </p:nvSpPr>
        <p:spPr>
          <a:xfrm>
            <a:off x="7818120" y="1417320"/>
            <a:ext cx="3017520" cy="713232"/>
          </a:xfrm>
          <a:prstGeom prst="roundRect">
            <a:avLst>
              <a:gd name="adj" fmla="val 8000"/>
            </a:avLst>
          </a:prstGeom>
          <a:solidFill>
            <a:srgbClr val="1E364E"/>
          </a:solidFill>
          <a:ln w="12700">
            <a:solidFill>
              <a:srgbClr val="3A5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2B3066-EE2D-E21B-778E-34A5D20282EF}"/>
              </a:ext>
            </a:extLst>
          </p:cNvPr>
          <p:cNvSpPr txBox="1"/>
          <p:nvPr/>
        </p:nvSpPr>
        <p:spPr>
          <a:xfrm>
            <a:off x="8549640" y="1527048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REQUEST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F350F32-2C23-8F32-660C-3700D56C1CB0}"/>
              </a:ext>
            </a:extLst>
          </p:cNvPr>
          <p:cNvSpPr/>
          <p:nvPr/>
        </p:nvSpPr>
        <p:spPr>
          <a:xfrm>
            <a:off x="8065008" y="1618488"/>
            <a:ext cx="292608" cy="292608"/>
          </a:xfrm>
          <a:prstGeom prst="ellipse">
            <a:avLst/>
          </a:prstGeom>
          <a:solidFill>
            <a:srgbClr val="008B91"/>
          </a:solidFill>
          <a:ln>
            <a:solidFill>
              <a:srgbClr val="008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0">
            <a:extLst>
              <a:ext uri="{FF2B5EF4-FFF2-40B4-BE49-F238E27FC236}">
                <a16:creationId xmlns:a16="http://schemas.microsoft.com/office/drawing/2014/main" id="{69E450F2-AE56-EB7E-2252-B9ADF5ED16B8}"/>
              </a:ext>
            </a:extLst>
          </p:cNvPr>
          <p:cNvCxnSpPr/>
          <p:nvPr/>
        </p:nvCxnSpPr>
        <p:spPr>
          <a:xfrm>
            <a:off x="9326880" y="2148840"/>
            <a:ext cx="0" cy="429768"/>
          </a:xfrm>
          <a:prstGeom prst="line">
            <a:avLst/>
          </a:prstGeom>
          <a:ln w="25400">
            <a:solidFill>
              <a:srgbClr val="688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1">
            <a:extLst>
              <a:ext uri="{FF2B5EF4-FFF2-40B4-BE49-F238E27FC236}">
                <a16:creationId xmlns:a16="http://schemas.microsoft.com/office/drawing/2014/main" id="{9D35384D-1D18-C042-6749-F0B432CA0E32}"/>
              </a:ext>
            </a:extLst>
          </p:cNvPr>
          <p:cNvSpPr/>
          <p:nvPr/>
        </p:nvSpPr>
        <p:spPr>
          <a:xfrm>
            <a:off x="7818120" y="2624328"/>
            <a:ext cx="3017520" cy="713232"/>
          </a:xfrm>
          <a:prstGeom prst="roundRect">
            <a:avLst>
              <a:gd name="adj" fmla="val 8000"/>
            </a:avLst>
          </a:prstGeom>
          <a:solidFill>
            <a:srgbClr val="1E364E"/>
          </a:solidFill>
          <a:ln w="12700">
            <a:solidFill>
              <a:srgbClr val="3A5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276137-F1F8-97D2-9287-4047379EFC9D}"/>
              </a:ext>
            </a:extLst>
          </p:cNvPr>
          <p:cNvSpPr txBox="1"/>
          <p:nvPr/>
        </p:nvSpPr>
        <p:spPr>
          <a:xfrm>
            <a:off x="8549640" y="2734056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BREAKER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8DE82FB-FADD-107B-7E42-93EC501338EF}"/>
              </a:ext>
            </a:extLst>
          </p:cNvPr>
          <p:cNvSpPr/>
          <p:nvPr/>
        </p:nvSpPr>
        <p:spPr>
          <a:xfrm>
            <a:off x="8065008" y="2825496"/>
            <a:ext cx="292608" cy="292608"/>
          </a:xfrm>
          <a:prstGeom prst="ellipse">
            <a:avLst/>
          </a:prstGeom>
          <a:solidFill>
            <a:srgbClr val="E0972D"/>
          </a:solidFill>
          <a:ln>
            <a:solidFill>
              <a:srgbClr val="E09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15">
            <a:extLst>
              <a:ext uri="{FF2B5EF4-FFF2-40B4-BE49-F238E27FC236}">
                <a16:creationId xmlns:a16="http://schemas.microsoft.com/office/drawing/2014/main" id="{E974FCA8-3A62-E3C8-0B8C-74F2012D9148}"/>
              </a:ext>
            </a:extLst>
          </p:cNvPr>
          <p:cNvSpPr/>
          <p:nvPr/>
        </p:nvSpPr>
        <p:spPr>
          <a:xfrm>
            <a:off x="7818120" y="3831336"/>
            <a:ext cx="3017520" cy="713232"/>
          </a:xfrm>
          <a:prstGeom prst="roundRect">
            <a:avLst>
              <a:gd name="adj" fmla="val 8000"/>
            </a:avLst>
          </a:prstGeom>
          <a:solidFill>
            <a:srgbClr val="1E364E"/>
          </a:solidFill>
          <a:ln w="12700">
            <a:solidFill>
              <a:srgbClr val="3A5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ACF5A2E-E5B0-3370-CB5D-85985F7DB9F3}"/>
              </a:ext>
            </a:extLst>
          </p:cNvPr>
          <p:cNvSpPr/>
          <p:nvPr/>
        </p:nvSpPr>
        <p:spPr>
          <a:xfrm>
            <a:off x="8065008" y="4032504"/>
            <a:ext cx="292608" cy="292608"/>
          </a:xfrm>
          <a:prstGeom prst="ellipse">
            <a:avLst/>
          </a:prstGeom>
          <a:solidFill>
            <a:srgbClr val="26845B"/>
          </a:solidFill>
          <a:ln>
            <a:solidFill>
              <a:srgbClr val="2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734833-6BAD-09BD-A316-93120712B274}"/>
              </a:ext>
            </a:extLst>
          </p:cNvPr>
          <p:cNvSpPr txBox="1"/>
          <p:nvPr/>
        </p:nvSpPr>
        <p:spPr>
          <a:xfrm>
            <a:off x="8549640" y="3941064"/>
            <a:ext cx="1920240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BANK</a:t>
            </a:r>
          </a:p>
        </p:txBody>
      </p:sp>
      <p:cxnSp>
        <p:nvCxnSpPr>
          <p:cNvPr id="31" name="Connector 14">
            <a:extLst>
              <a:ext uri="{FF2B5EF4-FFF2-40B4-BE49-F238E27FC236}">
                <a16:creationId xmlns:a16="http://schemas.microsoft.com/office/drawing/2014/main" id="{54DE802D-F149-1F31-4719-FDC266F4C6A5}"/>
              </a:ext>
            </a:extLst>
          </p:cNvPr>
          <p:cNvCxnSpPr/>
          <p:nvPr/>
        </p:nvCxnSpPr>
        <p:spPr>
          <a:xfrm>
            <a:off x="9326880" y="3355848"/>
            <a:ext cx="0" cy="429768"/>
          </a:xfrm>
          <a:prstGeom prst="line">
            <a:avLst/>
          </a:prstGeom>
          <a:ln w="25400">
            <a:solidFill>
              <a:srgbClr val="688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8101FFA-2129-0B35-18AA-018E0D5B3F84}"/>
              </a:ext>
            </a:extLst>
          </p:cNvPr>
          <p:cNvSpPr txBox="1"/>
          <p:nvPr/>
        </p:nvSpPr>
        <p:spPr>
          <a:xfrm>
            <a:off x="1419408" y="5304495"/>
            <a:ext cx="4713961" cy="35086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b="1" i="0">
                <a:latin typeface="Aptos"/>
              </a:rPr>
              <a:t>TIMEOUT  •  PROTECT  •  RECOVER</a:t>
            </a:r>
            <a:endParaRPr lang="en-US" b="1" i="0">
              <a:latin typeface="Aptos"/>
            </a:endParaRPr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7906C321-73A6-02AF-DC52-6677594B4A19}"/>
              </a:ext>
            </a:extLst>
          </p:cNvPr>
          <p:cNvSpPr/>
          <p:nvPr/>
        </p:nvSpPr>
        <p:spPr>
          <a:xfrm>
            <a:off x="869927" y="4251589"/>
            <a:ext cx="6667333" cy="574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>
                <a:solidFill>
                  <a:srgbClr val="000000"/>
                </a:solidFill>
                <a:latin typeface="Aptos"/>
              </a:rPr>
              <a:t>A practical implementation using Node.js, Express, and Opossum.</a:t>
            </a:r>
            <a:endParaRPr lang="en-US"/>
          </a:p>
          <a:p>
            <a:pPr>
              <a:lnSpc>
                <a:spcPct val="112000"/>
              </a:lnSpc>
            </a:pPr>
            <a:endParaRPr lang="en-US" sz="1600" dirty="0">
              <a:solidFill>
                <a:srgbClr val="5B6570"/>
              </a:solidFill>
              <a:latin typeface="Atkinson Hyperlegible Next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495129D4-12DF-6202-82DF-BC22CAD1F44A}"/>
              </a:ext>
            </a:extLst>
          </p:cNvPr>
          <p:cNvSpPr/>
          <p:nvPr/>
        </p:nvSpPr>
        <p:spPr>
          <a:xfrm>
            <a:off x="609585" y="612775"/>
            <a:ext cx="115821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84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02 · FAILURE PATH</a:t>
            </a:r>
            <a:endParaRPr lang="en-US" sz="105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D5F4766A-A3FD-6A03-4F60-F148BC5C4497}"/>
              </a:ext>
            </a:extLst>
          </p:cNvPr>
          <p:cNvSpPr/>
          <p:nvPr/>
        </p:nvSpPr>
        <p:spPr>
          <a:xfrm>
            <a:off x="609585" y="858440"/>
            <a:ext cx="1097252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2000"/>
              </a:lnSpc>
            </a:pPr>
            <a:r>
              <a:rPr lang="en-US" sz="2500" b="1" kern="100" spc="-25">
                <a:solidFill>
                  <a:srgbClr val="1A1F26"/>
                </a:solidFill>
                <a:latin typeface="B612 Bold"/>
                <a:ea typeface="B612 Bold"/>
                <a:cs typeface="B612 Bold" pitchFamily="34" charset="-120"/>
              </a:rPr>
              <a:t>The problem: </a:t>
            </a:r>
            <a:r>
              <a:rPr lang="en-US" sz="2500" b="1" kern="100" spc="-25">
                <a:solidFill>
                  <a:srgbClr val="13263F"/>
                </a:solidFill>
                <a:latin typeface="Aptos"/>
                <a:ea typeface="B612 Bold"/>
                <a:cs typeface="B612 Bold" pitchFamily="34" charset="-120"/>
              </a:rPr>
              <a:t>One slow bank request needs a controlled path</a:t>
            </a:r>
            <a:endParaRPr lang="en-US" sz="2500" kern="100" spc="-25">
              <a:solidFill>
                <a:srgbClr val="000000"/>
              </a:solidFill>
              <a:latin typeface="Aptos"/>
              <a:ea typeface="B612 Bold"/>
              <a:cs typeface="B612 Bold" pitchFamily="34" charset="-120"/>
            </a:endParaRPr>
          </a:p>
          <a:p>
            <a:pPr marL="0" indent="0" algn="l">
              <a:lnSpc>
                <a:spcPct val="92000"/>
              </a:lnSpc>
              <a:buNone/>
            </a:pPr>
            <a:endParaRPr lang="en-US" sz="2500" b="1" kern="100" spc="-25" dirty="0">
              <a:solidFill>
                <a:srgbClr val="1A1F26"/>
              </a:solidFill>
              <a:latin typeface="B612 Bold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ECD707AD-D7ED-E86A-3C10-EDCFD2AD1218}"/>
              </a:ext>
            </a:extLst>
          </p:cNvPr>
          <p:cNvSpPr/>
          <p:nvPr/>
        </p:nvSpPr>
        <p:spPr>
          <a:xfrm>
            <a:off x="609585" y="1375966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200">
                <a:solidFill>
                  <a:srgbClr val="667787"/>
                </a:solidFill>
                <a:latin typeface="Aptos"/>
              </a:rPr>
              <a:t>The payout route validates input, protects the dependency call, then returns a clear result.</a:t>
            </a:r>
            <a:endParaRPr lang="en-US" sz="1200">
              <a:solidFill>
                <a:srgbClr val="000000"/>
              </a:solidFill>
              <a:latin typeface="Aptos"/>
            </a:endParaRPr>
          </a:p>
          <a:p>
            <a:pPr marL="0" indent="0" algn="l">
              <a:lnSpc>
                <a:spcPct val="112000"/>
              </a:lnSpc>
              <a:buNone/>
            </a:pPr>
            <a:endParaRPr lang="en-US" sz="1100" dirty="0">
              <a:solidFill>
                <a:srgbClr val="5B6570"/>
              </a:solidFill>
              <a:latin typeface="Atkinson Hyperlegible Next"/>
            </a:endParaRP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411FF4FF-5E90-6D2D-85D3-9D2FD35F17BD}"/>
              </a:ext>
            </a:extLst>
          </p:cNvPr>
          <p:cNvSpPr/>
          <p:nvPr/>
        </p:nvSpPr>
        <p:spPr>
          <a:xfrm>
            <a:off x="609585" y="1729581"/>
            <a:ext cx="2514537" cy="1942207"/>
          </a:xfrm>
          <a:prstGeom prst="roundRect">
            <a:avLst>
              <a:gd name="adj" fmla="val 3923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AACD53A1-0EFE-4665-DABD-F3165985C62E}"/>
              </a:ext>
            </a:extLst>
          </p:cNvPr>
          <p:cNvSpPr/>
          <p:nvPr/>
        </p:nvSpPr>
        <p:spPr>
          <a:xfrm>
            <a:off x="850879" y="1970881"/>
            <a:ext cx="80275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4C3BCF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7827A3E7-4102-7493-6116-E7834BEF5DF7}"/>
              </a:ext>
            </a:extLst>
          </p:cNvPr>
          <p:cNvSpPr/>
          <p:nvPr/>
        </p:nvSpPr>
        <p:spPr>
          <a:xfrm>
            <a:off x="850879" y="2219821"/>
            <a:ext cx="2031850" cy="19050"/>
          </a:xfrm>
          <a:prstGeom prst="rect">
            <a:avLst/>
          </a:prstGeom>
          <a:solidFill>
            <a:srgbClr val="4C3BCF"/>
          </a:solidFill>
          <a:ln/>
        </p:spPr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8308524E-0647-9FBB-438D-BFDFBB0A8721}"/>
              </a:ext>
            </a:extLst>
          </p:cNvPr>
          <p:cNvSpPr/>
          <p:nvPr/>
        </p:nvSpPr>
        <p:spPr>
          <a:xfrm>
            <a:off x="850879" y="2348706"/>
            <a:ext cx="227324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100" spc="63" dirty="0">
                <a:solidFill>
                  <a:srgbClr val="5B657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INPUT</a:t>
            </a:r>
            <a:endParaRPr lang="en-US" sz="105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F5D3F63A-D7B6-2622-BC4A-F5281B97D260}"/>
              </a:ext>
            </a:extLst>
          </p:cNvPr>
          <p:cNvSpPr/>
          <p:nvPr/>
        </p:nvSpPr>
        <p:spPr>
          <a:xfrm>
            <a:off x="850879" y="2585164"/>
            <a:ext cx="203194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Postman</a:t>
            </a:r>
            <a:endParaRPr lang="en-US" sz="145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DD95F52D-39DC-2F85-6971-D8D5588F4137}"/>
              </a:ext>
            </a:extLst>
          </p:cNvPr>
          <p:cNvSpPr/>
          <p:nvPr/>
        </p:nvSpPr>
        <p:spPr>
          <a:xfrm>
            <a:off x="850879" y="2932807"/>
            <a:ext cx="227324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POST payout request</a:t>
            </a:r>
            <a:endParaRPr lang="en-US" sz="1400" dirty="0"/>
          </a:p>
        </p:txBody>
      </p:sp>
      <p:sp>
        <p:nvSpPr>
          <p:cNvPr id="23" name="Shape 27">
            <a:extLst>
              <a:ext uri="{FF2B5EF4-FFF2-40B4-BE49-F238E27FC236}">
                <a16:creationId xmlns:a16="http://schemas.microsoft.com/office/drawing/2014/main" id="{A377A0AA-544C-E567-A9F4-1344D4088638}"/>
              </a:ext>
            </a:extLst>
          </p:cNvPr>
          <p:cNvSpPr/>
          <p:nvPr/>
        </p:nvSpPr>
        <p:spPr>
          <a:xfrm>
            <a:off x="609585" y="3836888"/>
            <a:ext cx="3454314" cy="1340048"/>
          </a:xfrm>
          <a:prstGeom prst="roundRect">
            <a:avLst>
              <a:gd name="adj" fmla="val 853"/>
            </a:avLst>
          </a:prstGeom>
          <a:solidFill>
            <a:srgbClr val="F0F3EC"/>
          </a:solidFill>
          <a:ln/>
        </p:spPr>
      </p:sp>
      <p:sp>
        <p:nvSpPr>
          <p:cNvPr id="25" name="Shape 28">
            <a:extLst>
              <a:ext uri="{FF2B5EF4-FFF2-40B4-BE49-F238E27FC236}">
                <a16:creationId xmlns:a16="http://schemas.microsoft.com/office/drawing/2014/main" id="{7EFE2CF5-AE6D-34AD-9A2F-1A81A04507B9}"/>
              </a:ext>
            </a:extLst>
          </p:cNvPr>
          <p:cNvSpPr/>
          <p:nvPr/>
        </p:nvSpPr>
        <p:spPr>
          <a:xfrm>
            <a:off x="838179" y="4065488"/>
            <a:ext cx="1020439" cy="277217"/>
          </a:xfrm>
          <a:prstGeom prst="roundRect">
            <a:avLst>
              <a:gd name="adj" fmla="val 8246"/>
            </a:avLst>
          </a:prstGeom>
          <a:solidFill>
            <a:srgbClr val="197A46"/>
          </a:solidFill>
          <a:ln/>
        </p:spPr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2420E868-A442-B3CB-3B16-41B24047A8F7}"/>
              </a:ext>
            </a:extLst>
          </p:cNvPr>
          <p:cNvSpPr/>
          <p:nvPr/>
        </p:nvSpPr>
        <p:spPr>
          <a:xfrm>
            <a:off x="944837" y="4123722"/>
            <a:ext cx="1416709" cy="1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67" dirty="0">
                <a:solidFill>
                  <a:srgbClr val="FFFFFF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HTTP 200</a:t>
            </a:r>
            <a:endParaRPr lang="en-US" sz="1100" dirty="0"/>
          </a:p>
        </p:txBody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F86F9C2F-CCF4-E8CD-74EE-F00C8F91D826}"/>
              </a:ext>
            </a:extLst>
          </p:cNvPr>
          <p:cNvSpPr/>
          <p:nvPr/>
        </p:nvSpPr>
        <p:spPr>
          <a:xfrm>
            <a:off x="838179" y="4450655"/>
            <a:ext cx="299712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2A313A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Normal response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The bank completes normally.</a:t>
            </a:r>
            <a:endParaRPr lang="en-US" sz="140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0DD3F65A-8AC8-B496-B531-679030F42FD0}"/>
              </a:ext>
            </a:extLst>
          </p:cNvPr>
          <p:cNvSpPr/>
          <p:nvPr/>
        </p:nvSpPr>
        <p:spPr>
          <a:xfrm>
            <a:off x="3428914" y="1729581"/>
            <a:ext cx="2514537" cy="1942207"/>
          </a:xfrm>
          <a:prstGeom prst="roundRect">
            <a:avLst>
              <a:gd name="adj" fmla="val 3923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911026B3-139F-71B5-2C57-5A45752ED5AF}"/>
              </a:ext>
            </a:extLst>
          </p:cNvPr>
          <p:cNvSpPr/>
          <p:nvPr/>
        </p:nvSpPr>
        <p:spPr>
          <a:xfrm>
            <a:off x="6248244" y="1729581"/>
            <a:ext cx="2514537" cy="1942207"/>
          </a:xfrm>
          <a:prstGeom prst="roundRect">
            <a:avLst>
              <a:gd name="adj" fmla="val 3923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35" name="Shape 21">
            <a:extLst>
              <a:ext uri="{FF2B5EF4-FFF2-40B4-BE49-F238E27FC236}">
                <a16:creationId xmlns:a16="http://schemas.microsoft.com/office/drawing/2014/main" id="{9FB06D88-5FD6-E680-DA70-F350EAF407A7}"/>
              </a:ext>
            </a:extLst>
          </p:cNvPr>
          <p:cNvSpPr/>
          <p:nvPr/>
        </p:nvSpPr>
        <p:spPr>
          <a:xfrm>
            <a:off x="9067573" y="1729581"/>
            <a:ext cx="2514537" cy="1942207"/>
          </a:xfrm>
          <a:prstGeom prst="roundRect">
            <a:avLst>
              <a:gd name="adj" fmla="val 3923"/>
            </a:avLst>
          </a:prstGeom>
          <a:solidFill>
            <a:srgbClr val="E8E5FA"/>
          </a:solidFill>
          <a:ln w="12700">
            <a:solidFill>
              <a:srgbClr val="4C3BCF"/>
            </a:solidFill>
            <a:prstDash val="solid"/>
          </a:ln>
        </p:spPr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2F4AB15C-3FA2-2917-97A8-F687BFC1503F}"/>
              </a:ext>
            </a:extLst>
          </p:cNvPr>
          <p:cNvSpPr/>
          <p:nvPr/>
        </p:nvSpPr>
        <p:spPr>
          <a:xfrm>
            <a:off x="3670208" y="1970881"/>
            <a:ext cx="82746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4C3BCF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BF2B3FAA-621A-4ED2-A0E4-A5A42BB9D372}"/>
              </a:ext>
            </a:extLst>
          </p:cNvPr>
          <p:cNvSpPr/>
          <p:nvPr/>
        </p:nvSpPr>
        <p:spPr>
          <a:xfrm>
            <a:off x="6489538" y="1970881"/>
            <a:ext cx="83153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4C3BCF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84FCD226-6B17-1E1C-4A50-B33CB5608A46}"/>
              </a:ext>
            </a:extLst>
          </p:cNvPr>
          <p:cNvSpPr/>
          <p:nvPr/>
        </p:nvSpPr>
        <p:spPr>
          <a:xfrm>
            <a:off x="9308867" y="1970881"/>
            <a:ext cx="83669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E0781E52-A008-6508-CD99-F50D0734340C}"/>
              </a:ext>
            </a:extLst>
          </p:cNvPr>
          <p:cNvSpPr/>
          <p:nvPr/>
        </p:nvSpPr>
        <p:spPr>
          <a:xfrm>
            <a:off x="3670208" y="2219821"/>
            <a:ext cx="2031850" cy="19050"/>
          </a:xfrm>
          <a:prstGeom prst="rect">
            <a:avLst/>
          </a:prstGeom>
          <a:solidFill>
            <a:srgbClr val="4C3BCF"/>
          </a:solidFill>
          <a:ln/>
        </p:spPr>
      </p:sp>
      <p:sp>
        <p:nvSpPr>
          <p:cNvPr id="45" name="Shape 17">
            <a:extLst>
              <a:ext uri="{FF2B5EF4-FFF2-40B4-BE49-F238E27FC236}">
                <a16:creationId xmlns:a16="http://schemas.microsoft.com/office/drawing/2014/main" id="{F9E67E15-D84F-B5C4-E050-D05F5FDE5FE9}"/>
              </a:ext>
            </a:extLst>
          </p:cNvPr>
          <p:cNvSpPr/>
          <p:nvPr/>
        </p:nvSpPr>
        <p:spPr>
          <a:xfrm>
            <a:off x="6489538" y="2219821"/>
            <a:ext cx="2031850" cy="19050"/>
          </a:xfrm>
          <a:prstGeom prst="rect">
            <a:avLst/>
          </a:prstGeom>
          <a:solidFill>
            <a:srgbClr val="4C3BCF"/>
          </a:solidFill>
          <a:ln/>
        </p:spPr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E2D7F044-758A-300B-D066-6CDA660C3BD5}"/>
              </a:ext>
            </a:extLst>
          </p:cNvPr>
          <p:cNvSpPr/>
          <p:nvPr/>
        </p:nvSpPr>
        <p:spPr>
          <a:xfrm>
            <a:off x="9308867" y="2219821"/>
            <a:ext cx="2031850" cy="19050"/>
          </a:xfrm>
          <a:prstGeom prst="rect">
            <a:avLst/>
          </a:prstGeom>
          <a:solidFill>
            <a:srgbClr val="4C3BCF"/>
          </a:solidFill>
          <a:ln/>
        </p:spPr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27FFBDC1-4CD3-9342-2A66-5E278F394AE4}"/>
              </a:ext>
            </a:extLst>
          </p:cNvPr>
          <p:cNvSpPr/>
          <p:nvPr/>
        </p:nvSpPr>
        <p:spPr>
          <a:xfrm>
            <a:off x="3670208" y="2348706"/>
            <a:ext cx="227324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100" spc="63" dirty="0">
                <a:solidFill>
                  <a:srgbClr val="5B657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SERVER</a:t>
            </a:r>
            <a:endParaRPr lang="en-US" sz="1050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0EB986D3-6453-5802-62D6-F795731CE8F8}"/>
              </a:ext>
            </a:extLst>
          </p:cNvPr>
          <p:cNvSpPr/>
          <p:nvPr/>
        </p:nvSpPr>
        <p:spPr>
          <a:xfrm>
            <a:off x="6489538" y="2348706"/>
            <a:ext cx="227324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100" spc="63" dirty="0">
                <a:solidFill>
                  <a:srgbClr val="5B657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GUARD</a:t>
            </a:r>
            <a:endParaRPr lang="en-US" sz="1050" dirty="0"/>
          </a:p>
        </p:txBody>
      </p:sp>
      <p:sp>
        <p:nvSpPr>
          <p:cNvPr id="57" name="Text 24">
            <a:extLst>
              <a:ext uri="{FF2B5EF4-FFF2-40B4-BE49-F238E27FC236}">
                <a16:creationId xmlns:a16="http://schemas.microsoft.com/office/drawing/2014/main" id="{D2BCE964-12E3-FDC9-CBDB-7BA63C740C72}"/>
              </a:ext>
            </a:extLst>
          </p:cNvPr>
          <p:cNvSpPr/>
          <p:nvPr/>
        </p:nvSpPr>
        <p:spPr>
          <a:xfrm>
            <a:off x="9308867" y="2348706"/>
            <a:ext cx="227324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100" spc="63" dirty="0">
                <a:solidFill>
                  <a:srgbClr val="00000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DEPENDENCY</a:t>
            </a:r>
            <a:endParaRPr lang="en-US" sz="1050" dirty="0"/>
          </a:p>
        </p:txBody>
      </p:sp>
      <p:sp>
        <p:nvSpPr>
          <p:cNvPr id="59" name="Text 13">
            <a:extLst>
              <a:ext uri="{FF2B5EF4-FFF2-40B4-BE49-F238E27FC236}">
                <a16:creationId xmlns:a16="http://schemas.microsoft.com/office/drawing/2014/main" id="{0D2D955A-3CC4-AC3A-7113-CD5180840BC8}"/>
              </a:ext>
            </a:extLst>
          </p:cNvPr>
          <p:cNvSpPr/>
          <p:nvPr/>
        </p:nvSpPr>
        <p:spPr>
          <a:xfrm>
            <a:off x="3670208" y="2585164"/>
            <a:ext cx="203194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Express Server</a:t>
            </a:r>
            <a:endParaRPr lang="en-US" sz="1450" dirty="0"/>
          </a:p>
        </p:txBody>
      </p:sp>
      <p:sp>
        <p:nvSpPr>
          <p:cNvPr id="63" name="Text 19">
            <a:extLst>
              <a:ext uri="{FF2B5EF4-FFF2-40B4-BE49-F238E27FC236}">
                <a16:creationId xmlns:a16="http://schemas.microsoft.com/office/drawing/2014/main" id="{1144BD04-7902-2A00-FA6C-1B1A9CAB722A}"/>
              </a:ext>
            </a:extLst>
          </p:cNvPr>
          <p:cNvSpPr/>
          <p:nvPr/>
        </p:nvSpPr>
        <p:spPr>
          <a:xfrm>
            <a:off x="6489538" y="2585164"/>
            <a:ext cx="203194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Zod → Breaker</a:t>
            </a:r>
            <a:endParaRPr lang="en-US" sz="1450" dirty="0"/>
          </a:p>
        </p:txBody>
      </p:sp>
      <p:sp>
        <p:nvSpPr>
          <p:cNvPr id="65" name="Text 25">
            <a:extLst>
              <a:ext uri="{FF2B5EF4-FFF2-40B4-BE49-F238E27FC236}">
                <a16:creationId xmlns:a16="http://schemas.microsoft.com/office/drawing/2014/main" id="{B08EEBE8-1CF5-88B7-5231-07A11CE43BE1}"/>
              </a:ext>
            </a:extLst>
          </p:cNvPr>
          <p:cNvSpPr/>
          <p:nvPr/>
        </p:nvSpPr>
        <p:spPr>
          <a:xfrm>
            <a:off x="9308867" y="2585164"/>
            <a:ext cx="203194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Fake Bank</a:t>
            </a:r>
            <a:endParaRPr lang="en-US" sz="1450" dirty="0"/>
          </a:p>
        </p:txBody>
      </p:sp>
      <p:sp>
        <p:nvSpPr>
          <p:cNvPr id="67" name="Text 14">
            <a:extLst>
              <a:ext uri="{FF2B5EF4-FFF2-40B4-BE49-F238E27FC236}">
                <a16:creationId xmlns:a16="http://schemas.microsoft.com/office/drawing/2014/main" id="{9D01BAEE-3E2A-0F74-86FA-1710E8A13700}"/>
              </a:ext>
            </a:extLst>
          </p:cNvPr>
          <p:cNvSpPr/>
          <p:nvPr/>
        </p:nvSpPr>
        <p:spPr>
          <a:xfrm>
            <a:off x="3670208" y="2932807"/>
            <a:ext cx="227324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Payout route receives it</a:t>
            </a:r>
            <a:endParaRPr lang="en-US" sz="1400" dirty="0"/>
          </a:p>
        </p:txBody>
      </p:sp>
      <p:sp>
        <p:nvSpPr>
          <p:cNvPr id="69" name="Text 20">
            <a:extLst>
              <a:ext uri="{FF2B5EF4-FFF2-40B4-BE49-F238E27FC236}">
                <a16:creationId xmlns:a16="http://schemas.microsoft.com/office/drawing/2014/main" id="{869443F2-5A12-1328-B398-FD48B016C3C1}"/>
              </a:ext>
            </a:extLst>
          </p:cNvPr>
          <p:cNvSpPr/>
          <p:nvPr/>
        </p:nvSpPr>
        <p:spPr>
          <a:xfrm>
            <a:off x="6489538" y="2932807"/>
            <a:ext cx="203194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Validate, then protect the call</a:t>
            </a:r>
            <a:endParaRPr lang="en-US" sz="1400" dirty="0"/>
          </a:p>
        </p:txBody>
      </p:sp>
      <p:sp>
        <p:nvSpPr>
          <p:cNvPr id="71" name="Text 26">
            <a:extLst>
              <a:ext uri="{FF2B5EF4-FFF2-40B4-BE49-F238E27FC236}">
                <a16:creationId xmlns:a16="http://schemas.microsoft.com/office/drawing/2014/main" id="{5DC41B85-FA8C-80F6-4263-78A64BB1235B}"/>
              </a:ext>
            </a:extLst>
          </p:cNvPr>
          <p:cNvSpPr/>
          <p:nvPr/>
        </p:nvSpPr>
        <p:spPr>
          <a:xfrm>
            <a:off x="9308867" y="2932807"/>
            <a:ext cx="227324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Normal, slow, or fail</a:t>
            </a:r>
            <a:endParaRPr lang="en-US" sz="1400" dirty="0"/>
          </a:p>
        </p:txBody>
      </p:sp>
      <p:sp>
        <p:nvSpPr>
          <p:cNvPr id="73" name="Shape 31">
            <a:extLst>
              <a:ext uri="{FF2B5EF4-FFF2-40B4-BE49-F238E27FC236}">
                <a16:creationId xmlns:a16="http://schemas.microsoft.com/office/drawing/2014/main" id="{5632BC21-0A40-9BFB-DABE-65F5441D41FC}"/>
              </a:ext>
            </a:extLst>
          </p:cNvPr>
          <p:cNvSpPr/>
          <p:nvPr/>
        </p:nvSpPr>
        <p:spPr>
          <a:xfrm>
            <a:off x="4368691" y="3836888"/>
            <a:ext cx="3454314" cy="1340048"/>
          </a:xfrm>
          <a:prstGeom prst="roundRect">
            <a:avLst>
              <a:gd name="adj" fmla="val 853"/>
            </a:avLst>
          </a:prstGeom>
          <a:solidFill>
            <a:srgbClr val="F0F3EC"/>
          </a:solidFill>
          <a:ln/>
        </p:spPr>
      </p:sp>
      <p:sp>
        <p:nvSpPr>
          <p:cNvPr id="75" name="Shape 32">
            <a:extLst>
              <a:ext uri="{FF2B5EF4-FFF2-40B4-BE49-F238E27FC236}">
                <a16:creationId xmlns:a16="http://schemas.microsoft.com/office/drawing/2014/main" id="{FA789C06-6DFA-C79B-D018-CB576556DE6F}"/>
              </a:ext>
            </a:extLst>
          </p:cNvPr>
          <p:cNvSpPr/>
          <p:nvPr/>
        </p:nvSpPr>
        <p:spPr>
          <a:xfrm>
            <a:off x="4597285" y="4065488"/>
            <a:ext cx="1020439" cy="277217"/>
          </a:xfrm>
          <a:prstGeom prst="roundRect">
            <a:avLst>
              <a:gd name="adj" fmla="val 8246"/>
            </a:avLst>
          </a:prstGeom>
          <a:solidFill>
            <a:srgbClr val="D99A0B"/>
          </a:solidFill>
          <a:ln/>
        </p:spPr>
      </p:sp>
      <p:sp>
        <p:nvSpPr>
          <p:cNvPr id="77" name="Text 33">
            <a:extLst>
              <a:ext uri="{FF2B5EF4-FFF2-40B4-BE49-F238E27FC236}">
                <a16:creationId xmlns:a16="http://schemas.microsoft.com/office/drawing/2014/main" id="{8FAAA98C-74A8-BA15-C8E1-E11ABA798ED2}"/>
              </a:ext>
            </a:extLst>
          </p:cNvPr>
          <p:cNvSpPr/>
          <p:nvPr/>
        </p:nvSpPr>
        <p:spPr>
          <a:xfrm>
            <a:off x="4703942" y="4123722"/>
            <a:ext cx="1416709" cy="1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67" dirty="0">
                <a:solidFill>
                  <a:srgbClr val="00000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HTTP 504</a:t>
            </a:r>
            <a:endParaRPr lang="en-US" sz="1100" dirty="0"/>
          </a:p>
        </p:txBody>
      </p:sp>
      <p:sp>
        <p:nvSpPr>
          <p:cNvPr id="79" name="Text 34">
            <a:extLst>
              <a:ext uri="{FF2B5EF4-FFF2-40B4-BE49-F238E27FC236}">
                <a16:creationId xmlns:a16="http://schemas.microsoft.com/office/drawing/2014/main" id="{04FD4885-76BA-32B7-8081-401E74BC4B7B}"/>
              </a:ext>
            </a:extLst>
          </p:cNvPr>
          <p:cNvSpPr/>
          <p:nvPr/>
        </p:nvSpPr>
        <p:spPr>
          <a:xfrm>
            <a:off x="4597285" y="4450655"/>
            <a:ext cx="299712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en-US" sz="1400" b="1">
                <a:solidFill>
                  <a:srgbClr val="2A313A"/>
                </a:solidFill>
                <a:latin typeface="Atkinson Hyperlegible Next Bold"/>
                <a:ea typeface="Atkinson Hyperlegible Next Bold" pitchFamily="34" charset="-122"/>
                <a:cs typeface="Atkinson Hyperlegible Next Bold" pitchFamily="34" charset="-120"/>
              </a:rPr>
              <a:t>Slow bank / Time Out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The breaker timeout is reached.</a:t>
            </a:r>
            <a:endParaRPr lang="en-US" sz="1400" dirty="0"/>
          </a:p>
        </p:txBody>
      </p:sp>
      <p:sp>
        <p:nvSpPr>
          <p:cNvPr id="81" name="Shape 35">
            <a:extLst>
              <a:ext uri="{FF2B5EF4-FFF2-40B4-BE49-F238E27FC236}">
                <a16:creationId xmlns:a16="http://schemas.microsoft.com/office/drawing/2014/main" id="{1DE04BF8-D21D-55E1-C8B2-5C43807A3D0F}"/>
              </a:ext>
            </a:extLst>
          </p:cNvPr>
          <p:cNvSpPr/>
          <p:nvPr/>
        </p:nvSpPr>
        <p:spPr>
          <a:xfrm>
            <a:off x="8127797" y="3836888"/>
            <a:ext cx="3454314" cy="1340048"/>
          </a:xfrm>
          <a:prstGeom prst="roundRect">
            <a:avLst>
              <a:gd name="adj" fmla="val 853"/>
            </a:avLst>
          </a:prstGeom>
          <a:solidFill>
            <a:srgbClr val="F0F3EC"/>
          </a:solidFill>
          <a:ln/>
        </p:spPr>
      </p:sp>
      <p:sp>
        <p:nvSpPr>
          <p:cNvPr id="83" name="Shape 36">
            <a:extLst>
              <a:ext uri="{FF2B5EF4-FFF2-40B4-BE49-F238E27FC236}">
                <a16:creationId xmlns:a16="http://schemas.microsoft.com/office/drawing/2014/main" id="{FBD188EE-DE2A-832B-1E62-55A7058A3C5D}"/>
              </a:ext>
            </a:extLst>
          </p:cNvPr>
          <p:cNvSpPr/>
          <p:nvPr/>
        </p:nvSpPr>
        <p:spPr>
          <a:xfrm>
            <a:off x="8356391" y="4065488"/>
            <a:ext cx="1020439" cy="277217"/>
          </a:xfrm>
          <a:prstGeom prst="roundRect">
            <a:avLst>
              <a:gd name="adj" fmla="val 8246"/>
            </a:avLst>
          </a:prstGeom>
          <a:solidFill>
            <a:srgbClr val="C23A2F"/>
          </a:solidFill>
          <a:ln/>
        </p:spPr>
      </p:sp>
      <p:sp>
        <p:nvSpPr>
          <p:cNvPr id="85" name="Text 37">
            <a:extLst>
              <a:ext uri="{FF2B5EF4-FFF2-40B4-BE49-F238E27FC236}">
                <a16:creationId xmlns:a16="http://schemas.microsoft.com/office/drawing/2014/main" id="{99A1B0BB-CAA2-D620-99D9-DE6D1EDAC658}"/>
              </a:ext>
            </a:extLst>
          </p:cNvPr>
          <p:cNvSpPr/>
          <p:nvPr/>
        </p:nvSpPr>
        <p:spPr>
          <a:xfrm>
            <a:off x="8463048" y="4123722"/>
            <a:ext cx="1416709" cy="1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67" dirty="0">
                <a:solidFill>
                  <a:srgbClr val="FFFFFF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HTTP 503</a:t>
            </a:r>
            <a:endParaRPr lang="en-US" sz="1100" dirty="0"/>
          </a:p>
        </p:txBody>
      </p:sp>
      <p:sp>
        <p:nvSpPr>
          <p:cNvPr id="87" name="Text 38">
            <a:extLst>
              <a:ext uri="{FF2B5EF4-FFF2-40B4-BE49-F238E27FC236}">
                <a16:creationId xmlns:a16="http://schemas.microsoft.com/office/drawing/2014/main" id="{80678389-29C1-F4D8-02B0-94AE9F2AF406}"/>
              </a:ext>
            </a:extLst>
          </p:cNvPr>
          <p:cNvSpPr/>
          <p:nvPr/>
        </p:nvSpPr>
        <p:spPr>
          <a:xfrm>
            <a:off x="8356391" y="4450655"/>
            <a:ext cx="299712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2A313A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Failed bank / open circuit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The dependency is unavailable.</a:t>
            </a:r>
            <a:endParaRPr lang="en-US" sz="1400" dirty="0"/>
          </a:p>
        </p:txBody>
      </p:sp>
      <p:sp>
        <p:nvSpPr>
          <p:cNvPr id="89" name="Text 40">
            <a:extLst>
              <a:ext uri="{FF2B5EF4-FFF2-40B4-BE49-F238E27FC236}">
                <a16:creationId xmlns:a16="http://schemas.microsoft.com/office/drawing/2014/main" id="{033F6385-8DCB-7C00-BFD9-FDF77CBC5F93}"/>
              </a:ext>
            </a:extLst>
          </p:cNvPr>
          <p:cNvSpPr/>
          <p:nvPr/>
        </p:nvSpPr>
        <p:spPr>
          <a:xfrm>
            <a:off x="11419495" y="6481465"/>
            <a:ext cx="77220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kern="100" spc="57" dirty="0">
                <a:solidFill>
                  <a:srgbClr val="2A313A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02 / 10</a:t>
            </a:r>
            <a:endParaRPr lang="en-US" sz="950" dirty="0"/>
          </a:p>
        </p:txBody>
      </p:sp>
      <p:sp>
        <p:nvSpPr>
          <p:cNvPr id="93" name="Text 39">
            <a:extLst>
              <a:ext uri="{FF2B5EF4-FFF2-40B4-BE49-F238E27FC236}">
                <a16:creationId xmlns:a16="http://schemas.microsoft.com/office/drawing/2014/main" id="{3EF2D78D-8CB8-C6E3-19E2-9482B95931C1}"/>
              </a:ext>
            </a:extLst>
          </p:cNvPr>
          <p:cNvSpPr/>
          <p:nvPr/>
        </p:nvSpPr>
        <p:spPr>
          <a:xfrm>
            <a:off x="516903" y="6638040"/>
            <a:ext cx="2696760" cy="12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00" kern="100" spc="57">
                <a:solidFill>
                  <a:srgbClr val="5B6570"/>
                </a:solidFill>
                <a:latin typeface="Atkinson Hyperlegible Next"/>
                <a:ea typeface="B612 Mono"/>
              </a:rPr>
              <a:t>Timeouts and Circuit Breakers</a:t>
            </a:r>
            <a:endParaRPr lang="en-US" sz="1400" kern="100" spc="57">
              <a:solidFill>
                <a:srgbClr val="000000"/>
              </a:solidFill>
              <a:latin typeface="Atkinson Hyperlegible Next"/>
              <a:ea typeface="B612 Mono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950" kern="100" spc="57" dirty="0">
              <a:solidFill>
                <a:srgbClr val="2A313A"/>
              </a:solidFill>
              <a:latin typeface="B612 Mono"/>
              <a:ea typeface="B612 Mon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33F39-38E8-30FB-A082-687504D90833}"/>
              </a:ext>
            </a:extLst>
          </p:cNvPr>
          <p:cNvSpPr txBox="1"/>
          <p:nvPr/>
        </p:nvSpPr>
        <p:spPr>
          <a:xfrm>
            <a:off x="1005840" y="5532120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08B91"/>
                </a:solidFill>
                <a:latin typeface="Aptos"/>
              </a:rPr>
              <a:t>If the circuit is OPEN, the request is blocked before it reaches the fake bank.</a:t>
            </a:r>
          </a:p>
        </p:txBody>
      </p:sp>
    </p:spTree>
    <p:extLst>
      <p:ext uri="{BB962C8B-B14F-4D97-AF65-F5344CB8AC3E}">
        <p14:creationId xmlns:p14="http://schemas.microsoft.com/office/powerpoint/2010/main" val="1083711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987552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8B91"/>
                </a:solidFill>
                <a:latin typeface="Aptos"/>
              </a:rPr>
              <a:t>03  ·  DEPENDENCY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30352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13263F"/>
                </a:solidFill>
                <a:latin typeface="Aptos"/>
              </a:rPr>
              <a:t>Three fake-bank modes, three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787"/>
                </a:solidFill>
                <a:latin typeface="Aptos"/>
              </a:rPr>
              <a:t>Use these modes to test how the payout route behaves when the dependency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73152" cy="1920240"/>
          </a:xfrm>
          <a:prstGeom prst="rect">
            <a:avLst/>
          </a:prstGeom>
          <a:solidFill>
            <a:srgbClr val="26845B"/>
          </a:solidFill>
          <a:ln w="12700">
            <a:solidFill>
              <a:srgbClr val="2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792224"/>
            <a:ext cx="384048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6845B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1792224"/>
            <a:ext cx="2770632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6845B"/>
                </a:solidFill>
                <a:latin typeface="Aptos"/>
              </a:rPr>
              <a:t>MODE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121408"/>
            <a:ext cx="3154680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3263F"/>
                </a:solidFill>
                <a:latin typeface="Aptos"/>
              </a:rPr>
              <a:t>NORMAL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523744"/>
            <a:ext cx="3154680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787"/>
                </a:solidFill>
                <a:latin typeface="Aptos"/>
              </a:rPr>
              <a:t>The fake bank completes successfully.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787"/>
                </a:solidFill>
                <a:latin typeface="Aptos"/>
              </a:rPr>
              <a:t>Expected route response: HTTP 200.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64592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1645920"/>
            <a:ext cx="73152" cy="1920240"/>
          </a:xfrm>
          <a:prstGeom prst="rect">
            <a:avLst/>
          </a:prstGeom>
          <a:solidFill>
            <a:srgbClr val="E0972D"/>
          </a:solidFill>
          <a:ln w="12700">
            <a:solidFill>
              <a:srgbClr val="E09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44568" y="1792224"/>
            <a:ext cx="384048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E0972D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1792224"/>
            <a:ext cx="2770632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E0972D"/>
                </a:solidFill>
                <a:latin typeface="Aptos"/>
              </a:rPr>
              <a:t>MODE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2121408"/>
            <a:ext cx="3154680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3263F"/>
                </a:solidFill>
                <a:latin typeface="Aptos"/>
              </a:rPr>
              <a:t>SLOW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523744"/>
            <a:ext cx="3154680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787"/>
                </a:solidFill>
                <a:latin typeface="Aptos"/>
              </a:rPr>
              <a:t>The fake bank takes longer than the 3-second timeout.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787"/>
                </a:solidFill>
                <a:latin typeface="Aptos"/>
              </a:rPr>
              <a:t>Expected route response: HTTP 504.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64592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20" y="1645920"/>
            <a:ext cx="73152" cy="1920240"/>
          </a:xfrm>
          <a:prstGeom prst="rect">
            <a:avLst/>
          </a:prstGeom>
          <a:solidFill>
            <a:srgbClr val="C24949"/>
          </a:solidFill>
          <a:ln w="12700">
            <a:solidFill>
              <a:srgbClr val="C2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7888" y="1792224"/>
            <a:ext cx="384048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24949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9368" y="1792224"/>
            <a:ext cx="2770632" cy="2011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C24949"/>
                </a:solidFill>
                <a:latin typeface="Aptos"/>
              </a:rPr>
              <a:t>MODE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121408"/>
            <a:ext cx="3154680" cy="3474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3263F"/>
                </a:solidFill>
                <a:latin typeface="Aptos"/>
              </a:rPr>
              <a:t>FAIL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2523744"/>
            <a:ext cx="3154680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787"/>
                </a:solidFill>
                <a:latin typeface="Aptos"/>
              </a:rPr>
              <a:t>The fake bank simulates an error.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67787"/>
                </a:solidFill>
                <a:latin typeface="Aptos"/>
              </a:rPr>
              <a:t>Expected route response: HTTP 503.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977639"/>
            <a:ext cx="6629400" cy="1572768"/>
          </a:xfrm>
          <a:prstGeom prst="roundRect">
            <a:avLst>
              <a:gd name="adj" fmla="val 8000"/>
            </a:avLst>
          </a:prstGeom>
          <a:solidFill>
            <a:srgbClr val="182230"/>
          </a:solidFill>
          <a:ln w="12700">
            <a:solidFill>
              <a:srgbClr val="182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1" y="4050791"/>
            <a:ext cx="6300216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FCDC2"/>
                </a:solidFill>
                <a:latin typeface="Aptos"/>
              </a:rPr>
              <a:t>REQUEST EXAMPLES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" y="4343400"/>
            <a:ext cx="6300216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E0ECF4"/>
                </a:solidFill>
                <a:latin typeface="Consolas"/>
              </a:rPr>
              <a:t>{"amount": 500, "mode": "normal"}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0ECF4"/>
                </a:solidFill>
                <a:latin typeface="Consolas"/>
              </a:rPr>
              <a:t>{"amount": 500, "mode": "slow"}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E0ECF4"/>
                </a:solidFill>
                <a:latin typeface="Consolas"/>
              </a:rPr>
              <a:t>{"amount": 500, "mode": "fail"}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43800" y="3977639"/>
            <a:ext cx="4023360" cy="1572768"/>
          </a:xfrm>
          <a:prstGeom prst="roundRect">
            <a:avLst>
              <a:gd name="adj" fmla="val 8000"/>
            </a:avLst>
          </a:prstGeom>
          <a:solidFill>
            <a:srgbClr val="DAF2EE"/>
          </a:solidFill>
          <a:ln w="12700">
            <a:solidFill>
              <a:srgbClr val="DA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18120" y="4187952"/>
            <a:ext cx="34747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8B91"/>
                </a:solidFill>
                <a:latin typeface="Aptos"/>
              </a:rPr>
              <a:t>SOURCE PANEL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4544568"/>
            <a:ext cx="34290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C2B3B"/>
                </a:solidFill>
                <a:latin typeface="Aptos"/>
              </a:rPr>
              <a:t>fakeBank.js was not attached. Confirm the exact simulator code before presenting it as a source excerpt.</a:t>
            </a:r>
          </a:p>
        </p:txBody>
      </p:sp>
      <p:sp>
        <p:nvSpPr>
          <p:cNvPr id="34" name="Text 39">
            <a:extLst>
              <a:ext uri="{FF2B5EF4-FFF2-40B4-BE49-F238E27FC236}">
                <a16:creationId xmlns:a16="http://schemas.microsoft.com/office/drawing/2014/main" id="{1D44C318-6B8A-B78C-450F-66711A428069}"/>
              </a:ext>
            </a:extLst>
          </p:cNvPr>
          <p:cNvSpPr/>
          <p:nvPr/>
        </p:nvSpPr>
        <p:spPr>
          <a:xfrm>
            <a:off x="516903" y="6638040"/>
            <a:ext cx="2696760" cy="12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00" kern="100" spc="57">
                <a:solidFill>
                  <a:srgbClr val="5B6570"/>
                </a:solidFill>
                <a:latin typeface="Atkinson Hyperlegible Next"/>
                <a:ea typeface="B612 Mono"/>
              </a:rPr>
              <a:t>Timeouts and Circuit Breakers</a:t>
            </a:r>
            <a:endParaRPr lang="en-US" sz="1400" kern="100" spc="57">
              <a:solidFill>
                <a:srgbClr val="000000"/>
              </a:solidFill>
              <a:latin typeface="Atkinson Hyperlegible Next"/>
              <a:ea typeface="B612 Mono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950" kern="100" spc="57" dirty="0">
              <a:solidFill>
                <a:srgbClr val="2A313A"/>
              </a:solidFill>
              <a:latin typeface="B612 Mono"/>
              <a:ea typeface="B612 Mono"/>
            </a:endParaRPr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C02C45DB-12B1-3D70-F975-1001363799B5}"/>
              </a:ext>
            </a:extLst>
          </p:cNvPr>
          <p:cNvSpPr/>
          <p:nvPr/>
        </p:nvSpPr>
        <p:spPr>
          <a:xfrm>
            <a:off x="11419495" y="6481465"/>
            <a:ext cx="77220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kern="100" spc="57">
                <a:solidFill>
                  <a:srgbClr val="2A313A"/>
                </a:solidFill>
                <a:latin typeface="B612 Mono"/>
                <a:ea typeface="B612 Mono"/>
                <a:cs typeface="B612 Mono" pitchFamily="34" charset="-120"/>
              </a:rPr>
              <a:t>03 / 10</a:t>
            </a:r>
            <a:endParaRPr lang="en-US" sz="950">
              <a:latin typeface="B612 Mono"/>
              <a:ea typeface="B612 Mono"/>
            </a:endParaRPr>
          </a:p>
        </p:txBody>
      </p:sp>
    </p:spTree>
    <p:extLst>
      <p:ext uri="{BB962C8B-B14F-4D97-AF65-F5344CB8AC3E}">
        <p14:creationId xmlns:p14="http://schemas.microsoft.com/office/powerpoint/2010/main" val="1757105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DAF941CF-1369-6401-0168-26FC79B846E3}"/>
              </a:ext>
            </a:extLst>
          </p:cNvPr>
          <p:cNvSpPr/>
          <p:nvPr/>
        </p:nvSpPr>
        <p:spPr>
          <a:xfrm>
            <a:off x="609585" y="612775"/>
            <a:ext cx="115821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84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04 · DECISION CONFIGURATION</a:t>
            </a:r>
            <a:endParaRPr lang="en-US" sz="105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FD8E37D1-B248-F845-7C8B-338928D2F0A2}"/>
              </a:ext>
            </a:extLst>
          </p:cNvPr>
          <p:cNvSpPr/>
          <p:nvPr/>
        </p:nvSpPr>
        <p:spPr>
          <a:xfrm>
            <a:off x="609585" y="900193"/>
            <a:ext cx="1097252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500" b="1" kern="100" spc="-25" dirty="0">
                <a:solidFill>
                  <a:srgbClr val="1A1F26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The breaker turns latency into a decision</a:t>
            </a:r>
            <a:endParaRPr lang="en-US" sz="25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A400ED85-BCE6-A051-B339-CD580E24EB79}"/>
              </a:ext>
            </a:extLst>
          </p:cNvPr>
          <p:cNvSpPr/>
          <p:nvPr/>
        </p:nvSpPr>
        <p:spPr>
          <a:xfrm>
            <a:off x="609585" y="1897882"/>
            <a:ext cx="5948194" cy="4349474"/>
          </a:xfrm>
          <a:prstGeom prst="roundRect">
            <a:avLst>
              <a:gd name="adj" fmla="val 1494"/>
            </a:avLst>
          </a:prstGeom>
          <a:solidFill>
            <a:srgbClr val="E8E5FA"/>
          </a:solidFill>
          <a:ln w="12700">
            <a:solidFill>
              <a:srgbClr val="4C3BCF"/>
            </a:solidFill>
            <a:prstDash val="solid"/>
          </a:ln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550D9255-18E5-C2FD-AEF5-865617054FDE}"/>
              </a:ext>
            </a:extLst>
          </p:cNvPr>
          <p:cNvSpPr/>
          <p:nvPr/>
        </p:nvSpPr>
        <p:spPr>
          <a:xfrm>
            <a:off x="850879" y="2100605"/>
            <a:ext cx="5717337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100" spc="63" dirty="0">
                <a:solidFill>
                  <a:srgbClr val="00000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OPOSSUM OPTIONS</a:t>
            </a:r>
            <a:endParaRPr lang="en-US" sz="105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9734C97E-56CE-23F2-6DF0-DE25E66CC151}"/>
              </a:ext>
            </a:extLst>
          </p:cNvPr>
          <p:cNvSpPr/>
          <p:nvPr/>
        </p:nvSpPr>
        <p:spPr>
          <a:xfrm>
            <a:off x="850879" y="2436518"/>
            <a:ext cx="5559549" cy="2104114"/>
          </a:xfrm>
          <a:prstGeom prst="roundRect">
            <a:avLst>
              <a:gd name="adj" fmla="val 554"/>
            </a:avLst>
          </a:prstGeom>
          <a:solidFill>
            <a:srgbClr val="EDF0F1"/>
          </a:solidFill>
          <a:ln/>
        </p:spPr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9037C4BA-24A8-D8F5-CC77-082B2AA6C592}"/>
              </a:ext>
            </a:extLst>
          </p:cNvPr>
          <p:cNvSpPr/>
          <p:nvPr/>
        </p:nvSpPr>
        <p:spPr>
          <a:xfrm>
            <a:off x="1043317" y="2635513"/>
            <a:ext cx="5049414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options = {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timeout: 3000,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errorThresholdPercentage: 50,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resetTimeout: 10000,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volumeThreshold: 2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3F4F9857-5A5F-813A-C97C-3D5EDB381D0A}"/>
              </a:ext>
            </a:extLst>
          </p:cNvPr>
          <p:cNvSpPr/>
          <p:nvPr/>
        </p:nvSpPr>
        <p:spPr>
          <a:xfrm>
            <a:off x="7025305" y="1408212"/>
            <a:ext cx="455680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84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TIMEOUT</a:t>
            </a:r>
            <a:endParaRPr lang="en-US" sz="105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3B36830D-D0A7-DD5B-801E-F63951C797BD}"/>
              </a:ext>
            </a:extLst>
          </p:cNvPr>
          <p:cNvSpPr/>
          <p:nvPr/>
        </p:nvSpPr>
        <p:spPr>
          <a:xfrm>
            <a:off x="7025305" y="1642436"/>
            <a:ext cx="4556805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3000 ms</a:t>
            </a:r>
            <a:endParaRPr lang="en-US" sz="17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892FA895-4D7C-6035-9231-EF5DF721EFEF}"/>
              </a:ext>
            </a:extLst>
          </p:cNvPr>
          <p:cNvSpPr/>
          <p:nvPr/>
        </p:nvSpPr>
        <p:spPr>
          <a:xfrm>
            <a:off x="7025305" y="2030413"/>
            <a:ext cx="45568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Stop waiting when the bank is too slow.</a:t>
            </a:r>
            <a:endParaRPr lang="en-US" sz="1400" dirty="0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0A94C5CC-E8B0-DD61-1A19-A864401C9FBE}"/>
              </a:ext>
            </a:extLst>
          </p:cNvPr>
          <p:cNvSpPr/>
          <p:nvPr/>
        </p:nvSpPr>
        <p:spPr>
          <a:xfrm>
            <a:off x="7025305" y="2530574"/>
            <a:ext cx="4556805" cy="12700"/>
          </a:xfrm>
          <a:prstGeom prst="rect">
            <a:avLst/>
          </a:prstGeom>
          <a:solidFill>
            <a:srgbClr val="C2CCD5"/>
          </a:solidFill>
          <a:ln/>
        </p:spPr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4F217A33-E668-2069-6CC6-AC924B046DFA}"/>
              </a:ext>
            </a:extLst>
          </p:cNvPr>
          <p:cNvSpPr/>
          <p:nvPr/>
        </p:nvSpPr>
        <p:spPr>
          <a:xfrm>
            <a:off x="7025305" y="2797770"/>
            <a:ext cx="455680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84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ERROR RATE</a:t>
            </a:r>
            <a:endParaRPr lang="en-US" sz="105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802E27EA-3B8E-47D5-9A51-8E8DE111D32C}"/>
              </a:ext>
            </a:extLst>
          </p:cNvPr>
          <p:cNvSpPr/>
          <p:nvPr/>
        </p:nvSpPr>
        <p:spPr>
          <a:xfrm>
            <a:off x="7025305" y="3031995"/>
            <a:ext cx="4556805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50%</a:t>
            </a:r>
            <a:endParaRPr lang="en-US" sz="1700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AF524AB8-DEBA-705F-7189-B2BE163E2B1B}"/>
              </a:ext>
            </a:extLst>
          </p:cNvPr>
          <p:cNvSpPr/>
          <p:nvPr/>
        </p:nvSpPr>
        <p:spPr>
          <a:xfrm>
            <a:off x="7025305" y="3419971"/>
            <a:ext cx="45568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Open when failures cross the threshold.</a:t>
            </a:r>
            <a:endParaRPr lang="en-US" sz="1400" dirty="0"/>
          </a:p>
        </p:txBody>
      </p:sp>
      <p:sp>
        <p:nvSpPr>
          <p:cNvPr id="31" name="Shape 19">
            <a:extLst>
              <a:ext uri="{FF2B5EF4-FFF2-40B4-BE49-F238E27FC236}">
                <a16:creationId xmlns:a16="http://schemas.microsoft.com/office/drawing/2014/main" id="{0ABA5B5F-718B-6254-655E-422BDCA83E5B}"/>
              </a:ext>
            </a:extLst>
          </p:cNvPr>
          <p:cNvSpPr/>
          <p:nvPr/>
        </p:nvSpPr>
        <p:spPr>
          <a:xfrm>
            <a:off x="7025305" y="3920133"/>
            <a:ext cx="4556805" cy="12700"/>
          </a:xfrm>
          <a:prstGeom prst="rect">
            <a:avLst/>
          </a:prstGeom>
          <a:solidFill>
            <a:srgbClr val="C2CCD5"/>
          </a:solidFill>
          <a:ln/>
        </p:spPr>
      </p:sp>
      <p:sp>
        <p:nvSpPr>
          <p:cNvPr id="33" name="Shape 20">
            <a:extLst>
              <a:ext uri="{FF2B5EF4-FFF2-40B4-BE49-F238E27FC236}">
                <a16:creationId xmlns:a16="http://schemas.microsoft.com/office/drawing/2014/main" id="{20599728-ED8E-B911-1300-7E3A8B80504A}"/>
              </a:ext>
            </a:extLst>
          </p:cNvPr>
          <p:cNvSpPr/>
          <p:nvPr/>
        </p:nvSpPr>
        <p:spPr>
          <a:xfrm>
            <a:off x="7025305" y="5309691"/>
            <a:ext cx="4556805" cy="12700"/>
          </a:xfrm>
          <a:prstGeom prst="rect">
            <a:avLst/>
          </a:prstGeom>
          <a:solidFill>
            <a:srgbClr val="C2CCD5"/>
          </a:solidFill>
          <a:ln/>
        </p:spPr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82265F63-3123-7235-0445-B780327586DF}"/>
              </a:ext>
            </a:extLst>
          </p:cNvPr>
          <p:cNvSpPr/>
          <p:nvPr/>
        </p:nvSpPr>
        <p:spPr>
          <a:xfrm>
            <a:off x="7025305" y="4187329"/>
            <a:ext cx="455680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84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RESET WINDOW</a:t>
            </a:r>
            <a:endParaRPr lang="en-US" sz="105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86567B74-B4A9-0B19-E9EB-A872D48FA9C4}"/>
              </a:ext>
            </a:extLst>
          </p:cNvPr>
          <p:cNvSpPr/>
          <p:nvPr/>
        </p:nvSpPr>
        <p:spPr>
          <a:xfrm>
            <a:off x="7025305" y="4421554"/>
            <a:ext cx="4556805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10000 ms</a:t>
            </a:r>
            <a:endParaRPr lang="en-US" sz="170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DCCF2FFB-C7AF-A109-A773-6A0382179A69}"/>
              </a:ext>
            </a:extLst>
          </p:cNvPr>
          <p:cNvSpPr/>
          <p:nvPr/>
        </p:nvSpPr>
        <p:spPr>
          <a:xfrm>
            <a:off x="7025305" y="4809530"/>
            <a:ext cx="45568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Wait before testing recovery.</a:t>
            </a:r>
            <a:endParaRPr lang="en-US" sz="1400" dirty="0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721E618E-DA6E-3EA3-AC91-8E0EE3589B36}"/>
              </a:ext>
            </a:extLst>
          </p:cNvPr>
          <p:cNvSpPr/>
          <p:nvPr/>
        </p:nvSpPr>
        <p:spPr>
          <a:xfrm>
            <a:off x="7025305" y="5576888"/>
            <a:ext cx="455680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84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MINIMUM VOLUME</a:t>
            </a:r>
            <a:endParaRPr lang="en-US" sz="1050" dirty="0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06F37EDA-F6EB-60FF-0DC3-799DCCBD7E14}"/>
              </a:ext>
            </a:extLst>
          </p:cNvPr>
          <p:cNvSpPr/>
          <p:nvPr/>
        </p:nvSpPr>
        <p:spPr>
          <a:xfrm>
            <a:off x="7025305" y="5811112"/>
            <a:ext cx="4556805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2 requests</a:t>
            </a:r>
            <a:endParaRPr lang="en-US" sz="1700" dirty="0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4736683F-DC4E-3DA5-702D-54FC4FED683B}"/>
              </a:ext>
            </a:extLst>
          </p:cNvPr>
          <p:cNvSpPr/>
          <p:nvPr/>
        </p:nvSpPr>
        <p:spPr>
          <a:xfrm>
            <a:off x="7025305" y="6199088"/>
            <a:ext cx="45568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Make the decision with enough traffic.</a:t>
            </a:r>
            <a:endParaRPr lang="en-US" sz="1400" dirty="0"/>
          </a:p>
        </p:txBody>
      </p:sp>
      <p:sp>
        <p:nvSpPr>
          <p:cNvPr id="47" name="Text 39">
            <a:extLst>
              <a:ext uri="{FF2B5EF4-FFF2-40B4-BE49-F238E27FC236}">
                <a16:creationId xmlns:a16="http://schemas.microsoft.com/office/drawing/2014/main" id="{71C17085-8A28-0BB6-BBAD-F8C5D7D10E43}"/>
              </a:ext>
            </a:extLst>
          </p:cNvPr>
          <p:cNvSpPr/>
          <p:nvPr/>
        </p:nvSpPr>
        <p:spPr>
          <a:xfrm>
            <a:off x="516903" y="6638040"/>
            <a:ext cx="2696760" cy="12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00" kern="100" spc="57">
                <a:solidFill>
                  <a:srgbClr val="5B6570"/>
                </a:solidFill>
                <a:latin typeface="Atkinson Hyperlegible Next"/>
                <a:ea typeface="B612 Mono"/>
              </a:rPr>
              <a:t>Timeouts and Circuit Breakers</a:t>
            </a:r>
            <a:endParaRPr lang="en-US" sz="1400" kern="100" spc="57">
              <a:solidFill>
                <a:srgbClr val="000000"/>
              </a:solidFill>
              <a:latin typeface="Atkinson Hyperlegible Next"/>
              <a:ea typeface="B612 Mono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950" kern="100" spc="57" dirty="0">
              <a:solidFill>
                <a:srgbClr val="2A313A"/>
              </a:solidFill>
              <a:latin typeface="B612 Mono"/>
              <a:ea typeface="B612 Mono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3E8E56D3-C3A6-AD9F-51DD-4697C9685CD8}"/>
              </a:ext>
            </a:extLst>
          </p:cNvPr>
          <p:cNvSpPr/>
          <p:nvPr/>
        </p:nvSpPr>
        <p:spPr>
          <a:xfrm>
            <a:off x="11419495" y="6481465"/>
            <a:ext cx="77220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7000"/>
              </a:lnSpc>
            </a:pPr>
            <a:r>
              <a:rPr lang="en-US" sz="950" kern="100" spc="57">
                <a:solidFill>
                  <a:srgbClr val="2A313A"/>
                </a:solidFill>
                <a:latin typeface="B612 Mono"/>
                <a:ea typeface="B612 Mono"/>
                <a:cs typeface="B612 Mono" pitchFamily="34" charset="-120"/>
              </a:rPr>
              <a:t>04 / 10</a:t>
            </a:r>
            <a:endParaRPr lang="en-US" sz="950">
              <a:latin typeface="B612 Mono"/>
              <a:ea typeface="B612 Mono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9AFF23D4-2FF5-1724-AF14-94CDC6EDDF43}"/>
              </a:ext>
            </a:extLst>
          </p:cNvPr>
          <p:cNvSpPr txBox="1"/>
          <p:nvPr/>
        </p:nvSpPr>
        <p:spPr>
          <a:xfrm>
            <a:off x="615237" y="1343834"/>
            <a:ext cx="1097280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787"/>
                </a:solidFill>
                <a:latin typeface="Aptos"/>
              </a:rPr>
              <a:t>Configuration currently used in bankCircuitBreaker.js.</a:t>
            </a:r>
          </a:p>
        </p:txBody>
      </p:sp>
    </p:spTree>
    <p:extLst>
      <p:ext uri="{BB962C8B-B14F-4D97-AF65-F5344CB8AC3E}">
        <p14:creationId xmlns:p14="http://schemas.microsoft.com/office/powerpoint/2010/main" val="2860950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D28A0C8E-2035-71C4-C931-8BDA35A577F4}"/>
              </a:ext>
            </a:extLst>
          </p:cNvPr>
          <p:cNvSpPr/>
          <p:nvPr/>
        </p:nvSpPr>
        <p:spPr>
          <a:xfrm>
            <a:off x="609585" y="612775"/>
            <a:ext cx="115821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84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05 · WRAPPER</a:t>
            </a:r>
            <a:endParaRPr lang="en-US" sz="105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BFB4C320-9625-E086-C7BD-B498155B922E}"/>
              </a:ext>
            </a:extLst>
          </p:cNvPr>
          <p:cNvSpPr/>
          <p:nvPr/>
        </p:nvSpPr>
        <p:spPr>
          <a:xfrm>
            <a:off x="609585" y="858440"/>
            <a:ext cx="1097252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500" b="1" kern="100" spc="-25" dirty="0">
                <a:solidFill>
                  <a:srgbClr val="1A1F26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bankCircuitBreaker.js wraps the risky dependency</a:t>
            </a:r>
            <a:endParaRPr lang="en-US" sz="25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E0DCE4A8-F27B-A474-D445-BAAC0DEC1B82}"/>
              </a:ext>
            </a:extLst>
          </p:cNvPr>
          <p:cNvSpPr/>
          <p:nvPr/>
        </p:nvSpPr>
        <p:spPr>
          <a:xfrm>
            <a:off x="609585" y="1536700"/>
            <a:ext cx="6659694" cy="4214515"/>
          </a:xfrm>
          <a:prstGeom prst="roundRect">
            <a:avLst>
              <a:gd name="adj" fmla="val 1808"/>
            </a:avLst>
          </a:prstGeom>
          <a:solidFill>
            <a:srgbClr val="E8E5FA"/>
          </a:solidFill>
          <a:ln w="12700">
            <a:solidFill>
              <a:srgbClr val="4C3BCF"/>
            </a:solidFill>
            <a:prstDash val="solid"/>
          </a:ln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B3917835-42D3-3614-97A2-2026F8648A35}"/>
              </a:ext>
            </a:extLst>
          </p:cNvPr>
          <p:cNvSpPr/>
          <p:nvPr/>
        </p:nvSpPr>
        <p:spPr>
          <a:xfrm>
            <a:off x="850879" y="1781175"/>
            <a:ext cx="641840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100" spc="63" dirty="0">
                <a:solidFill>
                  <a:srgbClr val="00000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BREAKER CREATION</a:t>
            </a:r>
            <a:endParaRPr lang="en-US" sz="105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4A3CADA5-160C-2FB3-9E6C-F7F183F6F86F}"/>
              </a:ext>
            </a:extLst>
          </p:cNvPr>
          <p:cNvSpPr/>
          <p:nvPr/>
        </p:nvSpPr>
        <p:spPr>
          <a:xfrm>
            <a:off x="850879" y="2137966"/>
            <a:ext cx="6177106" cy="2062361"/>
          </a:xfrm>
          <a:prstGeom prst="roundRect">
            <a:avLst>
              <a:gd name="adj" fmla="val 554"/>
            </a:avLst>
          </a:prstGeom>
          <a:solidFill>
            <a:srgbClr val="EDF0F1"/>
          </a:solidFill>
          <a:ln/>
        </p:spPr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574D1BA4-88AC-4F4B-401D-2AA3F40465B4}"/>
              </a:ext>
            </a:extLst>
          </p:cNvPr>
          <p:cNvSpPr/>
          <p:nvPr/>
        </p:nvSpPr>
        <p:spPr>
          <a:xfrm>
            <a:off x="1064194" y="2316083"/>
            <a:ext cx="5750476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CircuitBreaker = require("opossum");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transferToBank } = require("./fakeBank");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bankBreaker = new CircuitBreaker(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transferToBank,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options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9DF1C030-C74E-9C53-3694-17B2DA773E20}"/>
              </a:ext>
            </a:extLst>
          </p:cNvPr>
          <p:cNvSpPr/>
          <p:nvPr/>
        </p:nvSpPr>
        <p:spPr>
          <a:xfrm>
            <a:off x="7726368" y="1536700"/>
            <a:ext cx="3855743" cy="4214515"/>
          </a:xfrm>
          <a:prstGeom prst="roundRect">
            <a:avLst>
              <a:gd name="adj" fmla="val 296"/>
            </a:avLst>
          </a:prstGeom>
          <a:solidFill>
            <a:srgbClr val="F0F3EC"/>
          </a:solidFill>
          <a:ln/>
        </p:spPr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3BE93CEB-FF4F-529F-F8EC-F455C9A017F2}"/>
              </a:ext>
            </a:extLst>
          </p:cNvPr>
          <p:cNvSpPr/>
          <p:nvPr/>
        </p:nvSpPr>
        <p:spPr>
          <a:xfrm>
            <a:off x="7944524" y="1695406"/>
            <a:ext cx="362714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84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EVENT RAIL</a:t>
            </a:r>
            <a:endParaRPr lang="en-US" sz="105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591DC3A7-8EB9-E67B-C854-2B87BCF8027A}"/>
              </a:ext>
            </a:extLst>
          </p:cNvPr>
          <p:cNvSpPr/>
          <p:nvPr/>
        </p:nvSpPr>
        <p:spPr>
          <a:xfrm>
            <a:off x="7954962" y="2039858"/>
            <a:ext cx="339855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failure</a:t>
            </a:r>
            <a:endParaRPr lang="en-US" sz="1450" dirty="0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CBE049A0-233F-2121-EE82-6824DA639713}"/>
              </a:ext>
            </a:extLst>
          </p:cNvPr>
          <p:cNvSpPr/>
          <p:nvPr/>
        </p:nvSpPr>
        <p:spPr>
          <a:xfrm>
            <a:off x="7954962" y="2476401"/>
            <a:ext cx="3398554" cy="12700"/>
          </a:xfrm>
          <a:prstGeom prst="rect">
            <a:avLst/>
          </a:prstGeom>
          <a:solidFill>
            <a:srgbClr val="C2CCD5"/>
          </a:solidFill>
          <a:ln/>
        </p:spPr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2A97122C-FE27-A58C-6894-75CAF6FDB84A}"/>
              </a:ext>
            </a:extLst>
          </p:cNvPr>
          <p:cNvSpPr/>
          <p:nvPr/>
        </p:nvSpPr>
        <p:spPr>
          <a:xfrm>
            <a:off x="7954962" y="3154561"/>
            <a:ext cx="3398554" cy="12700"/>
          </a:xfrm>
          <a:prstGeom prst="rect">
            <a:avLst/>
          </a:prstGeom>
          <a:solidFill>
            <a:srgbClr val="C2CCD5"/>
          </a:solidFill>
          <a:ln/>
        </p:spPr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44675A28-D75E-8B73-E8CD-C08B4BB2AD49}"/>
              </a:ext>
            </a:extLst>
          </p:cNvPr>
          <p:cNvSpPr/>
          <p:nvPr/>
        </p:nvSpPr>
        <p:spPr>
          <a:xfrm>
            <a:off x="7954962" y="3832721"/>
            <a:ext cx="3398554" cy="12700"/>
          </a:xfrm>
          <a:prstGeom prst="rect">
            <a:avLst/>
          </a:prstGeom>
          <a:solidFill>
            <a:srgbClr val="C2CCD5"/>
          </a:solidFill>
          <a:ln/>
        </p:spPr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DC7CAE07-88EC-1EEC-8E62-8B1E89ADFC81}"/>
              </a:ext>
            </a:extLst>
          </p:cNvPr>
          <p:cNvSpPr/>
          <p:nvPr/>
        </p:nvSpPr>
        <p:spPr>
          <a:xfrm>
            <a:off x="7954962" y="4510881"/>
            <a:ext cx="3398554" cy="12700"/>
          </a:xfrm>
          <a:prstGeom prst="rect">
            <a:avLst/>
          </a:prstGeom>
          <a:solidFill>
            <a:srgbClr val="C2CCD5"/>
          </a:solidFill>
          <a:ln/>
        </p:spPr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6D2B0F88-FBE5-5AEF-C2D7-D2F7B468B66C}"/>
              </a:ext>
            </a:extLst>
          </p:cNvPr>
          <p:cNvSpPr/>
          <p:nvPr/>
        </p:nvSpPr>
        <p:spPr>
          <a:xfrm>
            <a:off x="7725318" y="5419206"/>
            <a:ext cx="3857841" cy="333052"/>
          </a:xfrm>
          <a:prstGeom prst="roundRect">
            <a:avLst>
              <a:gd name="adj" fmla="val 5104"/>
            </a:avLst>
          </a:prstGeom>
          <a:solidFill>
            <a:srgbClr val="D99A0B"/>
          </a:solidFill>
          <a:ln/>
        </p:spPr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312152D7-0271-1799-65FC-2ABBAF2A30AC}"/>
              </a:ext>
            </a:extLst>
          </p:cNvPr>
          <p:cNvSpPr/>
          <p:nvPr/>
        </p:nvSpPr>
        <p:spPr>
          <a:xfrm>
            <a:off x="7954962" y="4752499"/>
            <a:ext cx="339855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close</a:t>
            </a:r>
            <a:endParaRPr lang="en-US" sz="1450" dirty="0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5E3B9CDC-FA94-0016-0F9C-B245F1F65E57}"/>
              </a:ext>
            </a:extLst>
          </p:cNvPr>
          <p:cNvSpPr/>
          <p:nvPr/>
        </p:nvSpPr>
        <p:spPr>
          <a:xfrm>
            <a:off x="7954962" y="4074339"/>
            <a:ext cx="339855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halfOpen</a:t>
            </a:r>
            <a:endParaRPr lang="en-US" sz="1450" dirty="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272FD798-9BD3-2E6A-B290-97936A89DE75}"/>
              </a:ext>
            </a:extLst>
          </p:cNvPr>
          <p:cNvSpPr/>
          <p:nvPr/>
        </p:nvSpPr>
        <p:spPr>
          <a:xfrm>
            <a:off x="7954962" y="3396178"/>
            <a:ext cx="339855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open</a:t>
            </a:r>
            <a:endParaRPr lang="en-US" sz="1450" dirty="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3A71E257-9D64-C14B-9CE1-E32337859271}"/>
              </a:ext>
            </a:extLst>
          </p:cNvPr>
          <p:cNvSpPr/>
          <p:nvPr/>
        </p:nvSpPr>
        <p:spPr>
          <a:xfrm>
            <a:off x="7954962" y="2718018"/>
            <a:ext cx="339855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timeout</a:t>
            </a:r>
            <a:endParaRPr lang="en-US" sz="145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439BBC52-39C4-06C1-319A-EA6BBAB70085}"/>
              </a:ext>
            </a:extLst>
          </p:cNvPr>
          <p:cNvSpPr/>
          <p:nvPr/>
        </p:nvSpPr>
        <p:spPr>
          <a:xfrm>
            <a:off x="516903" y="6638040"/>
            <a:ext cx="2696760" cy="12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00" kern="100" spc="57">
                <a:solidFill>
                  <a:srgbClr val="5B6570"/>
                </a:solidFill>
                <a:latin typeface="Atkinson Hyperlegible Next"/>
                <a:ea typeface="B612 Mono"/>
              </a:rPr>
              <a:t>Timeouts and Circuit Breakers</a:t>
            </a:r>
            <a:endParaRPr lang="en-US" sz="1400" kern="100" spc="57">
              <a:solidFill>
                <a:srgbClr val="000000"/>
              </a:solidFill>
              <a:latin typeface="Atkinson Hyperlegible Next"/>
              <a:ea typeface="B612 Mono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950" kern="100" spc="57" dirty="0">
              <a:solidFill>
                <a:srgbClr val="2A313A"/>
              </a:solidFill>
              <a:latin typeface="B612 Mono"/>
              <a:ea typeface="B612 Mono"/>
            </a:endParaRPr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AFC4923B-3755-DF67-A248-A7FEB702E20E}"/>
              </a:ext>
            </a:extLst>
          </p:cNvPr>
          <p:cNvSpPr/>
          <p:nvPr/>
        </p:nvSpPr>
        <p:spPr>
          <a:xfrm>
            <a:off x="11419495" y="6481465"/>
            <a:ext cx="77220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7000"/>
              </a:lnSpc>
            </a:pPr>
            <a:r>
              <a:rPr lang="en-US" sz="950" kern="100" spc="57">
                <a:solidFill>
                  <a:srgbClr val="2A313A"/>
                </a:solidFill>
                <a:latin typeface="B612 Mono"/>
                <a:ea typeface="B612 Mono"/>
                <a:cs typeface="B612 Mono" pitchFamily="34" charset="-120"/>
              </a:rPr>
              <a:t>05 / 10</a:t>
            </a:r>
            <a:endParaRPr lang="en-US" sz="950">
              <a:latin typeface="B612 Mono"/>
              <a:ea typeface="B612 Mono"/>
            </a:endParaRP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7A9C86AB-FA72-AD57-CA0F-2EDDDA732547}"/>
              </a:ext>
            </a:extLst>
          </p:cNvPr>
          <p:cNvSpPr txBox="1"/>
          <p:nvPr/>
        </p:nvSpPr>
        <p:spPr>
          <a:xfrm>
            <a:off x="604798" y="1208135"/>
            <a:ext cx="1097280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787"/>
                </a:solidFill>
                <a:latin typeface="Aptos"/>
              </a:rPr>
              <a:t>Opossum manages timeout behaviour and circuit-breaker state around the fake-bank function.</a:t>
            </a:r>
          </a:p>
        </p:txBody>
      </p:sp>
      <p:sp>
        <p:nvSpPr>
          <p:cNvPr id="4" name="TextBox 14">
            <a:extLst>
              <a:ext uri="{FF2B5EF4-FFF2-40B4-BE49-F238E27FC236}">
                <a16:creationId xmlns:a16="http://schemas.microsoft.com/office/drawing/2014/main" id="{17BBB122-70C1-A975-A40C-2E7366B23C58}"/>
              </a:ext>
            </a:extLst>
          </p:cNvPr>
          <p:cNvSpPr txBox="1"/>
          <p:nvPr/>
        </p:nvSpPr>
        <p:spPr>
          <a:xfrm>
            <a:off x="8955692" y="2004041"/>
            <a:ext cx="2240280" cy="2585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C2B3B"/>
                </a:solidFill>
                <a:latin typeface="Aptos"/>
              </a:rPr>
              <a:t>A bank call failed</a:t>
            </a:r>
            <a:endParaRPr lang="en-US" sz="1200" b="0" i="0">
              <a:solidFill>
                <a:srgbClr val="1C2B3B"/>
              </a:solidFill>
              <a:latin typeface="Aptos"/>
            </a:endParaRPr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5CB3606D-6013-3967-33AA-6F31C87F6AF3}"/>
              </a:ext>
            </a:extLst>
          </p:cNvPr>
          <p:cNvSpPr txBox="1"/>
          <p:nvPr/>
        </p:nvSpPr>
        <p:spPr>
          <a:xfrm>
            <a:off x="8955692" y="2698902"/>
            <a:ext cx="2240280" cy="2585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C2B3B"/>
                </a:solidFill>
                <a:latin typeface="Aptos"/>
              </a:rPr>
              <a:t>The time limit was reached</a:t>
            </a:r>
            <a:endParaRPr lang="en-US" sz="1200" b="0" i="0">
              <a:solidFill>
                <a:srgbClr val="1C2B3B"/>
              </a:solidFill>
              <a:latin typeface="Aptos"/>
            </a:endParaRPr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883D7848-332E-6C45-5E8E-33B45C1B42FC}"/>
              </a:ext>
            </a:extLst>
          </p:cNvPr>
          <p:cNvSpPr txBox="1"/>
          <p:nvPr/>
        </p:nvSpPr>
        <p:spPr>
          <a:xfrm>
            <a:off x="8955692" y="3380580"/>
            <a:ext cx="2240280" cy="24314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C2B3B"/>
                </a:solidFill>
                <a:latin typeface="Aptos"/>
              </a:rPr>
              <a:t>New calls are blocked</a:t>
            </a:r>
            <a:endParaRPr lang="en-US" sz="1100" b="0" i="0">
              <a:solidFill>
                <a:srgbClr val="1C2B3B"/>
              </a:solidFill>
              <a:latin typeface="Aptos"/>
            </a:endParaRPr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03476DFC-4A39-2FEC-2BEE-F9E5FB52315F}"/>
              </a:ext>
            </a:extLst>
          </p:cNvPr>
          <p:cNvSpPr txBox="1"/>
          <p:nvPr/>
        </p:nvSpPr>
        <p:spPr>
          <a:xfrm>
            <a:off x="8955692" y="4065002"/>
            <a:ext cx="2240280" cy="24314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C2B3B"/>
                </a:solidFill>
                <a:latin typeface="Aptos"/>
              </a:rPr>
              <a:t>Recovery is being tested</a:t>
            </a:r>
            <a:endParaRPr lang="en-US" sz="1100" b="0" i="0">
              <a:solidFill>
                <a:srgbClr val="1C2B3B"/>
              </a:solidFill>
              <a:latin typeface="Aptos"/>
            </a:endParaRPr>
          </a:p>
        </p:txBody>
      </p:sp>
      <p:sp>
        <p:nvSpPr>
          <p:cNvPr id="18" name="TextBox 30">
            <a:extLst>
              <a:ext uri="{FF2B5EF4-FFF2-40B4-BE49-F238E27FC236}">
                <a16:creationId xmlns:a16="http://schemas.microsoft.com/office/drawing/2014/main" id="{1B34FE9E-E987-410A-D72B-7914EA1F0904}"/>
              </a:ext>
            </a:extLst>
          </p:cNvPr>
          <p:cNvSpPr txBox="1"/>
          <p:nvPr/>
        </p:nvSpPr>
        <p:spPr>
          <a:xfrm>
            <a:off x="8955692" y="4697232"/>
            <a:ext cx="2240280" cy="243143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C2B3B"/>
                </a:solidFill>
                <a:latin typeface="Aptos"/>
              </a:rPr>
              <a:t>Normal calls are allowed</a:t>
            </a:r>
            <a:endParaRPr lang="en-US" sz="1100" b="0" i="0">
              <a:solidFill>
                <a:srgbClr val="1C2B3B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382384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44BE9C83-8CA9-5162-955D-1F716785F18C}"/>
              </a:ext>
            </a:extLst>
          </p:cNvPr>
          <p:cNvSpPr/>
          <p:nvPr/>
        </p:nvSpPr>
        <p:spPr>
          <a:xfrm>
            <a:off x="609585" y="612775"/>
            <a:ext cx="115821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84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06 · RECOVERY LOOP</a:t>
            </a:r>
            <a:endParaRPr lang="en-US" sz="105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9C973DED-141B-9B93-F64A-5A64A8EC3ADA}"/>
              </a:ext>
            </a:extLst>
          </p:cNvPr>
          <p:cNvSpPr/>
          <p:nvPr/>
        </p:nvSpPr>
        <p:spPr>
          <a:xfrm>
            <a:off x="609585" y="858440"/>
            <a:ext cx="1097252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500" b="1" kern="100" spc="-25" dirty="0">
                <a:solidFill>
                  <a:srgbClr val="1A1F26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Closed, open, half-open: the recovery loop</a:t>
            </a:r>
            <a:endParaRPr lang="en-US" sz="2500" dirty="0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C04F4AFD-03EA-7AE5-67A3-5AE9EBCFDDD3}"/>
              </a:ext>
            </a:extLst>
          </p:cNvPr>
          <p:cNvSpPr/>
          <p:nvPr/>
        </p:nvSpPr>
        <p:spPr>
          <a:xfrm>
            <a:off x="599147" y="1501226"/>
            <a:ext cx="3454314" cy="1818931"/>
          </a:xfrm>
          <a:prstGeom prst="roundRect">
            <a:avLst>
              <a:gd name="adj" fmla="val 3919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DC3B238D-A737-E307-2A69-ADF0614DB387}"/>
              </a:ext>
            </a:extLst>
          </p:cNvPr>
          <p:cNvSpPr/>
          <p:nvPr/>
        </p:nvSpPr>
        <p:spPr>
          <a:xfrm>
            <a:off x="4410444" y="1501226"/>
            <a:ext cx="3381246" cy="1818931"/>
          </a:xfrm>
          <a:prstGeom prst="roundRect">
            <a:avLst>
              <a:gd name="adj" fmla="val 3919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45ECD536-3E45-5E41-AA5B-D7E4F5C1805E}"/>
              </a:ext>
            </a:extLst>
          </p:cNvPr>
          <p:cNvSpPr/>
          <p:nvPr/>
        </p:nvSpPr>
        <p:spPr>
          <a:xfrm>
            <a:off x="8086044" y="1501226"/>
            <a:ext cx="3506505" cy="1818931"/>
          </a:xfrm>
          <a:prstGeom prst="roundRect">
            <a:avLst>
              <a:gd name="adj" fmla="val 3919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9EE0166C-4E64-96E8-26A3-8F0065195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879" y="1617266"/>
            <a:ext cx="444489" cy="444500"/>
          </a:xfrm>
          <a:prstGeom prst="rect">
            <a:avLst/>
          </a:prstGeom>
        </p:spPr>
      </p:pic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A78460B1-C7E8-EFEB-4A44-7C27DAD5E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985" y="1617266"/>
            <a:ext cx="444489" cy="444500"/>
          </a:xfrm>
          <a:prstGeom prst="rect">
            <a:avLst/>
          </a:prstGeom>
        </p:spPr>
      </p:pic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DF6731DB-7F1B-6E9B-E1EA-8366EB638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9091" y="1617266"/>
            <a:ext cx="444489" cy="444500"/>
          </a:xfrm>
          <a:prstGeom prst="rect">
            <a:avLst/>
          </a:prstGeom>
        </p:spPr>
      </p:pic>
      <p:sp>
        <p:nvSpPr>
          <p:cNvPr id="23" name="Text 3">
            <a:extLst>
              <a:ext uri="{FF2B5EF4-FFF2-40B4-BE49-F238E27FC236}">
                <a16:creationId xmlns:a16="http://schemas.microsoft.com/office/drawing/2014/main" id="{5BAA4270-B181-7B16-C504-2A38297F77E2}"/>
              </a:ext>
            </a:extLst>
          </p:cNvPr>
          <p:cNvSpPr/>
          <p:nvPr/>
        </p:nvSpPr>
        <p:spPr>
          <a:xfrm>
            <a:off x="850879" y="2233533"/>
            <a:ext cx="2971726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CLOSED</a:t>
            </a:r>
            <a:endParaRPr lang="en-US" sz="145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10B4B86C-9590-339F-53AB-EA6F5279C9B1}"/>
              </a:ext>
            </a:extLst>
          </p:cNvPr>
          <p:cNvSpPr/>
          <p:nvPr/>
        </p:nvSpPr>
        <p:spPr>
          <a:xfrm>
            <a:off x="850879" y="2581176"/>
            <a:ext cx="32130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Requests reach the fake bank.</a:t>
            </a:r>
            <a:endParaRPr lang="en-US" sz="14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66A198C3-FB0F-8917-EAA4-1FB8A547CE9E}"/>
              </a:ext>
            </a:extLst>
          </p:cNvPr>
          <p:cNvSpPr/>
          <p:nvPr/>
        </p:nvSpPr>
        <p:spPr>
          <a:xfrm>
            <a:off x="4609985" y="2233533"/>
            <a:ext cx="2971726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OPEN</a:t>
            </a:r>
            <a:endParaRPr lang="en-US" sz="145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BDD88551-C069-ACC2-4CE7-D0BA59F5DA31}"/>
              </a:ext>
            </a:extLst>
          </p:cNvPr>
          <p:cNvSpPr/>
          <p:nvPr/>
        </p:nvSpPr>
        <p:spPr>
          <a:xfrm>
            <a:off x="8369091" y="2233533"/>
            <a:ext cx="2971726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HALF-OPEN</a:t>
            </a:r>
            <a:endParaRPr lang="en-US" sz="145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D7331F14-E921-80B9-8A63-3AD83887DFC4}"/>
              </a:ext>
            </a:extLst>
          </p:cNvPr>
          <p:cNvSpPr/>
          <p:nvPr/>
        </p:nvSpPr>
        <p:spPr>
          <a:xfrm>
            <a:off x="4609985" y="2581176"/>
            <a:ext cx="297172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Requests are blocked before the fake bank.</a:t>
            </a:r>
            <a:endParaRPr lang="en-US" sz="1400" dirty="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57F388DA-C597-03D0-3FF5-8FDEA11A716D}"/>
              </a:ext>
            </a:extLst>
          </p:cNvPr>
          <p:cNvSpPr/>
          <p:nvPr/>
        </p:nvSpPr>
        <p:spPr>
          <a:xfrm>
            <a:off x="8369091" y="2581176"/>
            <a:ext cx="297172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After 10 seconds, one recovery test can run.</a:t>
            </a:r>
            <a:endParaRPr lang="en-US" sz="1400" dirty="0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E4E594CF-0CCA-DB3F-1CBA-3A40C31C7153}"/>
              </a:ext>
            </a:extLst>
          </p:cNvPr>
          <p:cNvSpPr/>
          <p:nvPr/>
        </p:nvSpPr>
        <p:spPr>
          <a:xfrm>
            <a:off x="609585" y="3488432"/>
            <a:ext cx="115821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84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TRANSITIONS</a:t>
            </a:r>
            <a:endParaRPr lang="en-US" sz="1050" dirty="0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A87876FC-0E3C-3567-15BD-6F59EE8249BC}"/>
              </a:ext>
            </a:extLst>
          </p:cNvPr>
          <p:cNvSpPr/>
          <p:nvPr/>
        </p:nvSpPr>
        <p:spPr>
          <a:xfrm>
            <a:off x="609585" y="3810298"/>
            <a:ext cx="80275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4C3BCF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680205AB-4CC3-888E-02E1-CF879E645160}"/>
              </a:ext>
            </a:extLst>
          </p:cNvPr>
          <p:cNvSpPr/>
          <p:nvPr/>
        </p:nvSpPr>
        <p:spPr>
          <a:xfrm>
            <a:off x="609585" y="4067790"/>
            <a:ext cx="350511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Requests reach the fake bank</a:t>
            </a:r>
            <a:endParaRPr lang="en-US" sz="1450" dirty="0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F5058516-584F-EBA5-42A1-9D04F4A1A022}"/>
              </a:ext>
            </a:extLst>
          </p:cNvPr>
          <p:cNvSpPr/>
          <p:nvPr/>
        </p:nvSpPr>
        <p:spPr>
          <a:xfrm>
            <a:off x="4419489" y="3810298"/>
            <a:ext cx="82746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4C3BCF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6C388C41-465B-0683-8066-870F5DA8A504}"/>
              </a:ext>
            </a:extLst>
          </p:cNvPr>
          <p:cNvSpPr/>
          <p:nvPr/>
        </p:nvSpPr>
        <p:spPr>
          <a:xfrm>
            <a:off x="8076998" y="3810298"/>
            <a:ext cx="83153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4C3BCF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22465E4E-9371-6623-800E-E809E2B6D8A4}"/>
              </a:ext>
            </a:extLst>
          </p:cNvPr>
          <p:cNvSpPr/>
          <p:nvPr/>
        </p:nvSpPr>
        <p:spPr>
          <a:xfrm>
            <a:off x="609585" y="4586883"/>
            <a:ext cx="83669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4C3BCF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0976C363-36DB-FF03-91D1-F150824D9801}"/>
              </a:ext>
            </a:extLst>
          </p:cNvPr>
          <p:cNvSpPr/>
          <p:nvPr/>
        </p:nvSpPr>
        <p:spPr>
          <a:xfrm>
            <a:off x="4419489" y="4586883"/>
            <a:ext cx="83331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4C3BCF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06AA5707-722A-E4E5-0FA0-0BD712B3465A}"/>
              </a:ext>
            </a:extLst>
          </p:cNvPr>
          <p:cNvSpPr/>
          <p:nvPr/>
        </p:nvSpPr>
        <p:spPr>
          <a:xfrm>
            <a:off x="8076998" y="4586883"/>
            <a:ext cx="83599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4C3BCF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06</a:t>
            </a:r>
            <a:endParaRPr lang="en-US" sz="1400" dirty="0"/>
          </a:p>
        </p:txBody>
      </p:sp>
      <p:sp>
        <p:nvSpPr>
          <p:cNvPr id="51" name="Text 15">
            <a:extLst>
              <a:ext uri="{FF2B5EF4-FFF2-40B4-BE49-F238E27FC236}">
                <a16:creationId xmlns:a16="http://schemas.microsoft.com/office/drawing/2014/main" id="{0FA103F7-7836-A26E-A552-8822CFC9C814}"/>
              </a:ext>
            </a:extLst>
          </p:cNvPr>
          <p:cNvSpPr/>
          <p:nvPr/>
        </p:nvSpPr>
        <p:spPr>
          <a:xfrm>
            <a:off x="4419489" y="4067790"/>
            <a:ext cx="3352716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Repeated failures → OPEN</a:t>
            </a:r>
            <a:endParaRPr lang="en-US" sz="1450" dirty="0"/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55EEBCDF-B1D1-4676-6A66-1FBB4A5CC180}"/>
              </a:ext>
            </a:extLst>
          </p:cNvPr>
          <p:cNvSpPr/>
          <p:nvPr/>
        </p:nvSpPr>
        <p:spPr>
          <a:xfrm>
            <a:off x="8076998" y="4067790"/>
            <a:ext cx="350511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OPEN → blocked before the fake bank</a:t>
            </a:r>
            <a:endParaRPr lang="en-US" sz="145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FDF56786-D418-58E8-16CB-2AA430D87EE5}"/>
              </a:ext>
            </a:extLst>
          </p:cNvPr>
          <p:cNvSpPr/>
          <p:nvPr/>
        </p:nvSpPr>
        <p:spPr>
          <a:xfrm>
            <a:off x="609585" y="4844375"/>
            <a:ext cx="350511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After 10 seconds → HALF-OPEN</a:t>
            </a:r>
            <a:endParaRPr lang="en-US" sz="1450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D906B2C3-78EB-9045-4884-10D7B9A0A695}"/>
              </a:ext>
            </a:extLst>
          </p:cNvPr>
          <p:cNvSpPr/>
          <p:nvPr/>
        </p:nvSpPr>
        <p:spPr>
          <a:xfrm>
            <a:off x="4419489" y="4844375"/>
            <a:ext cx="3352716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Recovery success → CLOSED</a:t>
            </a:r>
            <a:endParaRPr lang="en-US" sz="1450" dirty="0"/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B293FBD3-F084-F4E5-78FE-63DE286E637D}"/>
              </a:ext>
            </a:extLst>
          </p:cNvPr>
          <p:cNvSpPr/>
          <p:nvPr/>
        </p:nvSpPr>
        <p:spPr>
          <a:xfrm>
            <a:off x="8076998" y="4844375"/>
            <a:ext cx="350511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Recovery failure → OPEN</a:t>
            </a:r>
            <a:endParaRPr lang="en-US" sz="1450" dirty="0"/>
          </a:p>
        </p:txBody>
      </p:sp>
      <p:sp>
        <p:nvSpPr>
          <p:cNvPr id="61" name="Text 39">
            <a:extLst>
              <a:ext uri="{FF2B5EF4-FFF2-40B4-BE49-F238E27FC236}">
                <a16:creationId xmlns:a16="http://schemas.microsoft.com/office/drawing/2014/main" id="{5438B31B-2774-240A-9C0F-47614EE07E73}"/>
              </a:ext>
            </a:extLst>
          </p:cNvPr>
          <p:cNvSpPr/>
          <p:nvPr/>
        </p:nvSpPr>
        <p:spPr>
          <a:xfrm>
            <a:off x="516903" y="6638040"/>
            <a:ext cx="2696760" cy="12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00" kern="100" spc="57">
                <a:solidFill>
                  <a:srgbClr val="5B6570"/>
                </a:solidFill>
                <a:latin typeface="Atkinson Hyperlegible Next"/>
                <a:ea typeface="B612 Mono"/>
              </a:rPr>
              <a:t>Timeouts and Circuit Breakers</a:t>
            </a:r>
            <a:endParaRPr lang="en-US" sz="1400" kern="100" spc="57">
              <a:solidFill>
                <a:srgbClr val="000000"/>
              </a:solidFill>
              <a:latin typeface="Atkinson Hyperlegible Next"/>
              <a:ea typeface="B612 Mono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950" kern="100" spc="57" dirty="0">
              <a:solidFill>
                <a:srgbClr val="2A313A"/>
              </a:solidFill>
              <a:latin typeface="B612 Mono"/>
              <a:ea typeface="B612 Mono"/>
            </a:endParaRPr>
          </a:p>
        </p:txBody>
      </p:sp>
      <p:sp>
        <p:nvSpPr>
          <p:cNvPr id="63" name="Text 40">
            <a:extLst>
              <a:ext uri="{FF2B5EF4-FFF2-40B4-BE49-F238E27FC236}">
                <a16:creationId xmlns:a16="http://schemas.microsoft.com/office/drawing/2014/main" id="{B12F56FB-969B-F859-4EEC-3E31463036D6}"/>
              </a:ext>
            </a:extLst>
          </p:cNvPr>
          <p:cNvSpPr/>
          <p:nvPr/>
        </p:nvSpPr>
        <p:spPr>
          <a:xfrm>
            <a:off x="11419495" y="6481465"/>
            <a:ext cx="77220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7000"/>
              </a:lnSpc>
            </a:pPr>
            <a:r>
              <a:rPr lang="en-US" sz="950" kern="100" spc="57">
                <a:solidFill>
                  <a:srgbClr val="2A313A"/>
                </a:solidFill>
                <a:latin typeface="B612 Mono"/>
                <a:ea typeface="B612 Mono"/>
                <a:cs typeface="B612 Mono" pitchFamily="34" charset="-120"/>
              </a:rPr>
              <a:t>06 / 10</a:t>
            </a:r>
            <a:endParaRPr lang="en-US" sz="950">
              <a:latin typeface="B612 Mono"/>
              <a:ea typeface="B612 Mono"/>
            </a:endParaRPr>
          </a:p>
        </p:txBody>
      </p:sp>
      <p:sp>
        <p:nvSpPr>
          <p:cNvPr id="2" name="TextBox 30">
            <a:extLst>
              <a:ext uri="{FF2B5EF4-FFF2-40B4-BE49-F238E27FC236}">
                <a16:creationId xmlns:a16="http://schemas.microsoft.com/office/drawing/2014/main" id="{2BE358DB-0A43-69A2-478B-FA4067F64A17}"/>
              </a:ext>
            </a:extLst>
          </p:cNvPr>
          <p:cNvSpPr txBox="1"/>
          <p:nvPr/>
        </p:nvSpPr>
        <p:spPr>
          <a:xfrm>
            <a:off x="822960" y="5532120"/>
            <a:ext cx="105156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08B91"/>
                </a:solidFill>
                <a:latin typeface="Aptos"/>
              </a:rPr>
              <a:t>OPEN prevents repeated calls from piling onto an unhealthy dependency.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C278E11-1EFF-461B-BCA1-28E7B6A51783}"/>
              </a:ext>
            </a:extLst>
          </p:cNvPr>
          <p:cNvSpPr txBox="1"/>
          <p:nvPr/>
        </p:nvSpPr>
        <p:spPr>
          <a:xfrm>
            <a:off x="594360" y="1208135"/>
            <a:ext cx="1097280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787"/>
                </a:solidFill>
                <a:latin typeface="Aptos"/>
              </a:rPr>
              <a:t>The circuit changes state based on failures and the recovery test.</a:t>
            </a:r>
          </a:p>
        </p:txBody>
      </p:sp>
    </p:spTree>
    <p:extLst>
      <p:ext uri="{BB962C8B-B14F-4D97-AF65-F5344CB8AC3E}">
        <p14:creationId xmlns:p14="http://schemas.microsoft.com/office/powerpoint/2010/main" val="2608297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96EB7121-6D7D-9FB2-FB84-36950383EEFD}"/>
              </a:ext>
            </a:extLst>
          </p:cNvPr>
          <p:cNvSpPr/>
          <p:nvPr/>
        </p:nvSpPr>
        <p:spPr>
          <a:xfrm>
            <a:off x="609585" y="612775"/>
            <a:ext cx="115821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84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07 · INPUT GUARD</a:t>
            </a:r>
            <a:endParaRPr lang="en-US" sz="105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320A31CA-051F-53D3-A9F9-83A90CC519BE}"/>
              </a:ext>
            </a:extLst>
          </p:cNvPr>
          <p:cNvSpPr/>
          <p:nvPr/>
        </p:nvSpPr>
        <p:spPr>
          <a:xfrm>
            <a:off x="609585" y="858440"/>
            <a:ext cx="1097252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500" b="1" kern="100" spc="-25" dirty="0">
                <a:solidFill>
                  <a:srgbClr val="1A1F26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Zod validates the payout before the bank call</a:t>
            </a:r>
            <a:endParaRPr lang="en-US" sz="25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13BE1CEC-0E02-4949-8FA0-6601EFECAA75}"/>
              </a:ext>
            </a:extLst>
          </p:cNvPr>
          <p:cNvSpPr/>
          <p:nvPr/>
        </p:nvSpPr>
        <p:spPr>
          <a:xfrm>
            <a:off x="599147" y="1689116"/>
            <a:ext cx="6309262" cy="4423701"/>
          </a:xfrm>
          <a:prstGeom prst="roundRect">
            <a:avLst>
              <a:gd name="adj" fmla="val 1534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EBB29FAE-85C5-0F5E-A446-81C2C742FADF}"/>
              </a:ext>
            </a:extLst>
          </p:cNvPr>
          <p:cNvSpPr/>
          <p:nvPr/>
        </p:nvSpPr>
        <p:spPr>
          <a:xfrm>
            <a:off x="850879" y="1944030"/>
            <a:ext cx="606796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100" spc="63" dirty="0">
                <a:solidFill>
                  <a:srgbClr val="5B657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PAYOUT SCHEMA</a:t>
            </a:r>
            <a:endParaRPr lang="en-US" sz="105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79E82096-3735-8692-7AAC-BBFDE2ECB082}"/>
              </a:ext>
            </a:extLst>
          </p:cNvPr>
          <p:cNvSpPr/>
          <p:nvPr/>
        </p:nvSpPr>
        <p:spPr>
          <a:xfrm>
            <a:off x="850879" y="2332135"/>
            <a:ext cx="5826674" cy="1493441"/>
          </a:xfrm>
          <a:prstGeom prst="roundRect">
            <a:avLst>
              <a:gd name="adj" fmla="val 765"/>
            </a:avLst>
          </a:prstGeom>
          <a:solidFill>
            <a:srgbClr val="EDF0F1"/>
          </a:solidFill>
          <a:ln/>
        </p:spPr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AC62070E-CADD-EDB1-8B03-FD3845BCC570}"/>
              </a:ext>
            </a:extLst>
          </p:cNvPr>
          <p:cNvSpPr/>
          <p:nvPr/>
        </p:nvSpPr>
        <p:spPr>
          <a:xfrm>
            <a:off x="1064194" y="2374555"/>
            <a:ext cx="5400044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payoutSchema = z.object({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amount: z.number().int().positive(),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mode: z.enum(["normal", "slow", "fail"]).optional()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4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9F8EC3B9-CAF6-02E1-6F80-BA50C43B8407}"/>
              </a:ext>
            </a:extLst>
          </p:cNvPr>
          <p:cNvSpPr/>
          <p:nvPr/>
        </p:nvSpPr>
        <p:spPr>
          <a:xfrm>
            <a:off x="7375936" y="1607741"/>
            <a:ext cx="4206174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84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DECISION PATH</a:t>
            </a:r>
            <a:endParaRPr lang="en-US" sz="105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286B98E5-778F-33C9-E131-EEF95ADD7DD2}"/>
              </a:ext>
            </a:extLst>
          </p:cNvPr>
          <p:cNvSpPr/>
          <p:nvPr/>
        </p:nvSpPr>
        <p:spPr>
          <a:xfrm>
            <a:off x="7375936" y="2113359"/>
            <a:ext cx="80275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4C3BCF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9F6929B6-7C0D-4499-793E-D95C2B6059FC}"/>
              </a:ext>
            </a:extLst>
          </p:cNvPr>
          <p:cNvSpPr/>
          <p:nvPr/>
        </p:nvSpPr>
        <p:spPr>
          <a:xfrm>
            <a:off x="7375936" y="2926457"/>
            <a:ext cx="4206174" cy="12700"/>
          </a:xfrm>
          <a:prstGeom prst="rect">
            <a:avLst/>
          </a:prstGeom>
          <a:solidFill>
            <a:srgbClr val="C2CCD5"/>
          </a:solidFill>
          <a:ln/>
        </p:spPr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AE994B35-86B3-176D-4A0C-437EA1DFE600}"/>
              </a:ext>
            </a:extLst>
          </p:cNvPr>
          <p:cNvSpPr/>
          <p:nvPr/>
        </p:nvSpPr>
        <p:spPr>
          <a:xfrm>
            <a:off x="7375936" y="2932807"/>
            <a:ext cx="4206174" cy="1060351"/>
          </a:xfrm>
          <a:prstGeom prst="rect">
            <a:avLst/>
          </a:prstGeom>
          <a:solidFill>
            <a:srgbClr val="E8E5FA"/>
          </a:solidFill>
          <a:ln/>
        </p:spPr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61915F04-802E-20B6-3E8A-2F24EB305D5B}"/>
              </a:ext>
            </a:extLst>
          </p:cNvPr>
          <p:cNvSpPr/>
          <p:nvPr/>
        </p:nvSpPr>
        <p:spPr>
          <a:xfrm>
            <a:off x="7604530" y="3173710"/>
            <a:ext cx="82746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267E463D-D70B-B380-3078-E25201599DDD}"/>
              </a:ext>
            </a:extLst>
          </p:cNvPr>
          <p:cNvSpPr/>
          <p:nvPr/>
        </p:nvSpPr>
        <p:spPr>
          <a:xfrm>
            <a:off x="7375936" y="4234061"/>
            <a:ext cx="83153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4C3BCF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677626FB-F282-BD35-A518-39EA70D8A048}"/>
              </a:ext>
            </a:extLst>
          </p:cNvPr>
          <p:cNvSpPr/>
          <p:nvPr/>
        </p:nvSpPr>
        <p:spPr>
          <a:xfrm>
            <a:off x="7375936" y="5294412"/>
            <a:ext cx="83669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4C3BCF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Shape 21">
            <a:extLst>
              <a:ext uri="{FF2B5EF4-FFF2-40B4-BE49-F238E27FC236}">
                <a16:creationId xmlns:a16="http://schemas.microsoft.com/office/drawing/2014/main" id="{54266AD7-8B3A-7FBA-627E-41E2B4BB2717}"/>
              </a:ext>
            </a:extLst>
          </p:cNvPr>
          <p:cNvSpPr/>
          <p:nvPr/>
        </p:nvSpPr>
        <p:spPr>
          <a:xfrm>
            <a:off x="7375936" y="3986808"/>
            <a:ext cx="4206174" cy="12700"/>
          </a:xfrm>
          <a:prstGeom prst="rect">
            <a:avLst/>
          </a:prstGeom>
          <a:solidFill>
            <a:srgbClr val="C2CCD5"/>
          </a:solidFill>
          <a:ln/>
        </p:spPr>
      </p:sp>
      <p:sp>
        <p:nvSpPr>
          <p:cNvPr id="33" name="Shape 20">
            <a:extLst>
              <a:ext uri="{FF2B5EF4-FFF2-40B4-BE49-F238E27FC236}">
                <a16:creationId xmlns:a16="http://schemas.microsoft.com/office/drawing/2014/main" id="{E9C4D6DB-DB41-5A91-C56B-EB4E0E8BF29D}"/>
              </a:ext>
            </a:extLst>
          </p:cNvPr>
          <p:cNvSpPr/>
          <p:nvPr/>
        </p:nvSpPr>
        <p:spPr>
          <a:xfrm>
            <a:off x="7382199" y="2911843"/>
            <a:ext cx="4206174" cy="12700"/>
          </a:xfrm>
          <a:prstGeom prst="rect">
            <a:avLst/>
          </a:prstGeom>
          <a:solidFill>
            <a:srgbClr val="C2CCD5"/>
          </a:solidFill>
          <a:ln/>
        </p:spPr>
      </p:sp>
      <p:sp>
        <p:nvSpPr>
          <p:cNvPr id="35" name="Shape 22">
            <a:extLst>
              <a:ext uri="{FF2B5EF4-FFF2-40B4-BE49-F238E27FC236}">
                <a16:creationId xmlns:a16="http://schemas.microsoft.com/office/drawing/2014/main" id="{132F3954-617D-A313-54B7-DE79270888DF}"/>
              </a:ext>
            </a:extLst>
          </p:cNvPr>
          <p:cNvSpPr/>
          <p:nvPr/>
        </p:nvSpPr>
        <p:spPr>
          <a:xfrm>
            <a:off x="7375936" y="5047159"/>
            <a:ext cx="4206174" cy="12700"/>
          </a:xfrm>
          <a:prstGeom prst="rect">
            <a:avLst/>
          </a:prstGeom>
          <a:solidFill>
            <a:srgbClr val="C2CCD5"/>
          </a:solidFill>
          <a:ln/>
        </p:spPr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F001AD0E-57FE-1D97-8723-613302E4152B}"/>
              </a:ext>
            </a:extLst>
          </p:cNvPr>
          <p:cNvSpPr/>
          <p:nvPr/>
        </p:nvSpPr>
        <p:spPr>
          <a:xfrm>
            <a:off x="7924701" y="2107724"/>
            <a:ext cx="365740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Request body</a:t>
            </a:r>
            <a:endParaRPr lang="en-US" sz="1450" dirty="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C69B9446-0678-1640-E213-A714127D88C9}"/>
              </a:ext>
            </a:extLst>
          </p:cNvPr>
          <p:cNvSpPr/>
          <p:nvPr/>
        </p:nvSpPr>
        <p:spPr>
          <a:xfrm>
            <a:off x="7924701" y="2455366"/>
            <a:ext cx="365740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Receive amount and optional mode.</a:t>
            </a:r>
            <a:endParaRPr lang="en-US" sz="140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FA44116D-86EA-9A46-CBD0-E2F093F55B5E}"/>
              </a:ext>
            </a:extLst>
          </p:cNvPr>
          <p:cNvSpPr/>
          <p:nvPr/>
        </p:nvSpPr>
        <p:spPr>
          <a:xfrm>
            <a:off x="8178000" y="3168075"/>
            <a:ext cx="3175516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Schema parse</a:t>
            </a:r>
            <a:endParaRPr lang="en-US" sz="1450" dirty="0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802A7798-E9D2-45C9-6164-F7C192094C6E}"/>
              </a:ext>
            </a:extLst>
          </p:cNvPr>
          <p:cNvSpPr/>
          <p:nvPr/>
        </p:nvSpPr>
        <p:spPr>
          <a:xfrm>
            <a:off x="8178000" y="3515717"/>
            <a:ext cx="3404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Check the payout shape.</a:t>
            </a:r>
            <a:endParaRPr lang="en-US" sz="1400" dirty="0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EB789C09-88D8-F29F-74E2-9C6ACD454F4F}"/>
              </a:ext>
            </a:extLst>
          </p:cNvPr>
          <p:cNvSpPr/>
          <p:nvPr/>
        </p:nvSpPr>
        <p:spPr>
          <a:xfrm>
            <a:off x="7953474" y="4228425"/>
            <a:ext cx="3628637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Valid continues</a:t>
            </a:r>
            <a:endParaRPr lang="en-US" sz="1450" dirty="0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A9028CC3-04B3-BD97-B538-A01DCB1D1120}"/>
              </a:ext>
            </a:extLst>
          </p:cNvPr>
          <p:cNvSpPr/>
          <p:nvPr/>
        </p:nvSpPr>
        <p:spPr>
          <a:xfrm>
            <a:off x="7953474" y="4576068"/>
            <a:ext cx="362863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Proceed to the breaker.</a:t>
            </a:r>
            <a:endParaRPr lang="en-US" sz="1400" dirty="0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FA336E44-0D3C-29B6-5177-5317BAA8C576}"/>
              </a:ext>
            </a:extLst>
          </p:cNvPr>
          <p:cNvSpPr/>
          <p:nvPr/>
        </p:nvSpPr>
        <p:spPr>
          <a:xfrm>
            <a:off x="7958633" y="5288776"/>
            <a:ext cx="3623477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Invalid stops</a:t>
            </a:r>
            <a:endParaRPr lang="en-US" sz="145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E52C0F48-98FC-730A-1348-DE5C2A17B758}"/>
              </a:ext>
            </a:extLst>
          </p:cNvPr>
          <p:cNvSpPr/>
          <p:nvPr/>
        </p:nvSpPr>
        <p:spPr>
          <a:xfrm>
            <a:off x="7958633" y="5636419"/>
            <a:ext cx="362347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Do not call the bank.</a:t>
            </a:r>
            <a:endParaRPr lang="en-US" sz="1400" dirty="0"/>
          </a:p>
        </p:txBody>
      </p:sp>
      <p:sp>
        <p:nvSpPr>
          <p:cNvPr id="53" name="Text 39">
            <a:extLst>
              <a:ext uri="{FF2B5EF4-FFF2-40B4-BE49-F238E27FC236}">
                <a16:creationId xmlns:a16="http://schemas.microsoft.com/office/drawing/2014/main" id="{4C84526C-0786-B724-128A-D93BC5929969}"/>
              </a:ext>
            </a:extLst>
          </p:cNvPr>
          <p:cNvSpPr/>
          <p:nvPr/>
        </p:nvSpPr>
        <p:spPr>
          <a:xfrm>
            <a:off x="516903" y="6638040"/>
            <a:ext cx="2696760" cy="12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00" kern="100" spc="57">
                <a:solidFill>
                  <a:srgbClr val="5B6570"/>
                </a:solidFill>
                <a:latin typeface="Atkinson Hyperlegible Next"/>
                <a:ea typeface="B612 Mono"/>
              </a:rPr>
              <a:t>Timeouts and Circuit Breakers</a:t>
            </a:r>
            <a:endParaRPr lang="en-US" sz="1400" kern="100" spc="57">
              <a:solidFill>
                <a:srgbClr val="000000"/>
              </a:solidFill>
              <a:latin typeface="Atkinson Hyperlegible Next"/>
              <a:ea typeface="B612 Mono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950" kern="100" spc="57" dirty="0">
              <a:solidFill>
                <a:srgbClr val="2A313A"/>
              </a:solidFill>
              <a:latin typeface="B612 Mono"/>
              <a:ea typeface="B612 Mono"/>
            </a:endParaRPr>
          </a:p>
        </p:txBody>
      </p:sp>
      <p:sp>
        <p:nvSpPr>
          <p:cNvPr id="55" name="Text 40">
            <a:extLst>
              <a:ext uri="{FF2B5EF4-FFF2-40B4-BE49-F238E27FC236}">
                <a16:creationId xmlns:a16="http://schemas.microsoft.com/office/drawing/2014/main" id="{D4019C07-2164-90CD-7667-E00457E5C533}"/>
              </a:ext>
            </a:extLst>
          </p:cNvPr>
          <p:cNvSpPr/>
          <p:nvPr/>
        </p:nvSpPr>
        <p:spPr>
          <a:xfrm>
            <a:off x="11419495" y="6481465"/>
            <a:ext cx="77220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7000"/>
              </a:lnSpc>
            </a:pPr>
            <a:r>
              <a:rPr lang="en-US" sz="950" kern="100" spc="57">
                <a:solidFill>
                  <a:srgbClr val="2A313A"/>
                </a:solidFill>
                <a:latin typeface="B612 Mono"/>
                <a:ea typeface="B612 Mono"/>
                <a:cs typeface="B612 Mono" pitchFamily="34" charset="-120"/>
              </a:rPr>
              <a:t>07 / 10</a:t>
            </a:r>
            <a:endParaRPr lang="en-US" sz="950">
              <a:latin typeface="B612 Mono"/>
              <a:ea typeface="B612 Mono"/>
            </a:endParaRPr>
          </a:p>
        </p:txBody>
      </p:sp>
      <p:sp>
        <p:nvSpPr>
          <p:cNvPr id="2" name="TextBox 33">
            <a:extLst>
              <a:ext uri="{FF2B5EF4-FFF2-40B4-BE49-F238E27FC236}">
                <a16:creationId xmlns:a16="http://schemas.microsoft.com/office/drawing/2014/main" id="{AFE4BFB7-695D-9A75-64F4-2699C6CEF482}"/>
              </a:ext>
            </a:extLst>
          </p:cNvPr>
          <p:cNvSpPr txBox="1"/>
          <p:nvPr/>
        </p:nvSpPr>
        <p:spPr>
          <a:xfrm>
            <a:off x="1063042" y="5442768"/>
            <a:ext cx="53035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08B91"/>
                </a:solidFill>
                <a:latin typeface="Aptos"/>
              </a:rPr>
              <a:t>Validation protects the route from malformed requests.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73AD6F4-CE97-EC11-D786-FE6A8CB60054}"/>
              </a:ext>
            </a:extLst>
          </p:cNvPr>
          <p:cNvSpPr txBox="1"/>
          <p:nvPr/>
        </p:nvSpPr>
        <p:spPr>
          <a:xfrm>
            <a:off x="594360" y="1208135"/>
            <a:ext cx="1097280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787"/>
                </a:solidFill>
                <a:latin typeface="Aptos"/>
              </a:rPr>
              <a:t>Invalid input should stop before the breaker is called.</a:t>
            </a:r>
          </a:p>
        </p:txBody>
      </p:sp>
    </p:spTree>
    <p:extLst>
      <p:ext uri="{BB962C8B-B14F-4D97-AF65-F5344CB8AC3E}">
        <p14:creationId xmlns:p14="http://schemas.microsoft.com/office/powerpoint/2010/main" val="20003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945AA5E1-FD70-7BD2-73B8-C6417C29565E}"/>
              </a:ext>
            </a:extLst>
          </p:cNvPr>
          <p:cNvSpPr/>
          <p:nvPr/>
        </p:nvSpPr>
        <p:spPr>
          <a:xfrm>
            <a:off x="609585" y="612775"/>
            <a:ext cx="115821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84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08 · ROUTE CALL</a:t>
            </a:r>
            <a:endParaRPr lang="en-US" sz="1050" dirty="0"/>
          </a:p>
        </p:txBody>
      </p:sp>
      <p:sp>
        <p:nvSpPr>
          <p:cNvPr id="7" name="Text 39">
            <a:extLst>
              <a:ext uri="{FF2B5EF4-FFF2-40B4-BE49-F238E27FC236}">
                <a16:creationId xmlns:a16="http://schemas.microsoft.com/office/drawing/2014/main" id="{3F733998-1FE5-AC2A-6B4C-0841A71E41F9}"/>
              </a:ext>
            </a:extLst>
          </p:cNvPr>
          <p:cNvSpPr/>
          <p:nvPr/>
        </p:nvSpPr>
        <p:spPr>
          <a:xfrm>
            <a:off x="516903" y="6638040"/>
            <a:ext cx="2696760" cy="12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00" kern="100" spc="57">
                <a:solidFill>
                  <a:srgbClr val="5B6570"/>
                </a:solidFill>
                <a:latin typeface="Atkinson Hyperlegible Next"/>
                <a:ea typeface="B612 Mono"/>
              </a:rPr>
              <a:t>Timeouts and Circuit Breakers</a:t>
            </a:r>
            <a:endParaRPr lang="en-US" sz="1400" kern="100" spc="57">
              <a:solidFill>
                <a:srgbClr val="000000"/>
              </a:solidFill>
              <a:latin typeface="Atkinson Hyperlegible Next"/>
              <a:ea typeface="B612 Mono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950" kern="100" spc="57" dirty="0">
              <a:solidFill>
                <a:srgbClr val="2A313A"/>
              </a:solidFill>
              <a:latin typeface="B612 Mono"/>
              <a:ea typeface="B612 Mono"/>
            </a:endParaRPr>
          </a:p>
        </p:txBody>
      </p:sp>
      <p:sp>
        <p:nvSpPr>
          <p:cNvPr id="9" name="Text 40">
            <a:extLst>
              <a:ext uri="{FF2B5EF4-FFF2-40B4-BE49-F238E27FC236}">
                <a16:creationId xmlns:a16="http://schemas.microsoft.com/office/drawing/2014/main" id="{75C6FDC1-E40C-154B-B0AD-DEEBE2F8D93D}"/>
              </a:ext>
            </a:extLst>
          </p:cNvPr>
          <p:cNvSpPr/>
          <p:nvPr/>
        </p:nvSpPr>
        <p:spPr>
          <a:xfrm>
            <a:off x="11419495" y="6481465"/>
            <a:ext cx="77220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7000"/>
              </a:lnSpc>
            </a:pPr>
            <a:r>
              <a:rPr lang="en-US" sz="950" kern="100" spc="57">
                <a:solidFill>
                  <a:srgbClr val="2A313A"/>
                </a:solidFill>
                <a:latin typeface="B612 Mono"/>
                <a:ea typeface="B612 Mono"/>
                <a:cs typeface="B612 Mono" pitchFamily="34" charset="-120"/>
              </a:rPr>
              <a:t>08 / 10</a:t>
            </a:r>
            <a:endParaRPr lang="en-US" sz="950">
              <a:latin typeface="B612 Mono"/>
              <a:ea typeface="B612 Mono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CB806D7C-8FEB-EF08-A147-80BF3EFF933D}"/>
              </a:ext>
            </a:extLst>
          </p:cNvPr>
          <p:cNvSpPr/>
          <p:nvPr/>
        </p:nvSpPr>
        <p:spPr>
          <a:xfrm>
            <a:off x="609585" y="858440"/>
            <a:ext cx="1097252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500" b="1" kern="100" spc="-25" dirty="0">
                <a:solidFill>
                  <a:srgbClr val="1A1F26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The route delegates the call to the breaker</a:t>
            </a:r>
            <a:endParaRPr lang="en-US" sz="25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CE1A3923-8E76-8118-A67F-C9866BAE38A0}"/>
              </a:ext>
            </a:extLst>
          </p:cNvPr>
          <p:cNvSpPr/>
          <p:nvPr/>
        </p:nvSpPr>
        <p:spPr>
          <a:xfrm>
            <a:off x="599147" y="1699553"/>
            <a:ext cx="10982964" cy="2395716"/>
          </a:xfrm>
          <a:prstGeom prst="roundRect">
            <a:avLst>
              <a:gd name="adj" fmla="val 2709"/>
            </a:avLst>
          </a:prstGeom>
          <a:solidFill>
            <a:srgbClr val="E8E5FA"/>
          </a:solidFill>
          <a:ln w="12700">
            <a:solidFill>
              <a:srgbClr val="4C3BCF"/>
            </a:solidFill>
            <a:prstDash val="solid"/>
          </a:ln>
        </p:spPr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CD510990-68AA-2E51-3C5C-BAA2A679E551}"/>
              </a:ext>
            </a:extLst>
          </p:cNvPr>
          <p:cNvSpPr/>
          <p:nvPr/>
        </p:nvSpPr>
        <p:spPr>
          <a:xfrm>
            <a:off x="861318" y="1881400"/>
            <a:ext cx="1073123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100" spc="63" dirty="0">
                <a:solidFill>
                  <a:srgbClr val="00000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PAYOUT ROUTE</a:t>
            </a:r>
            <a:endParaRPr lang="en-US" sz="1050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D087635B-10B4-9118-785C-72FA4DE47BBD}"/>
              </a:ext>
            </a:extLst>
          </p:cNvPr>
          <p:cNvSpPr/>
          <p:nvPr/>
        </p:nvSpPr>
        <p:spPr>
          <a:xfrm>
            <a:off x="861317" y="2154683"/>
            <a:ext cx="10489938" cy="1493441"/>
          </a:xfrm>
          <a:prstGeom prst="roundRect">
            <a:avLst>
              <a:gd name="adj" fmla="val 765"/>
            </a:avLst>
          </a:prstGeom>
          <a:solidFill>
            <a:srgbClr val="EDF0F1"/>
          </a:solidFill>
          <a:ln/>
        </p:spPr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0FA851A9-F261-9F2D-92C8-2D2B8DDEE446}"/>
              </a:ext>
            </a:extLst>
          </p:cNvPr>
          <p:cNvSpPr/>
          <p:nvPr/>
        </p:nvSpPr>
        <p:spPr>
          <a:xfrm>
            <a:off x="1043317" y="2332801"/>
            <a:ext cx="10063308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bankResponse = await bankBreaker.fire({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amount,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4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3099900E-170F-8A56-5BCE-08B3BD306710}"/>
              </a:ext>
            </a:extLst>
          </p:cNvPr>
          <p:cNvSpPr/>
          <p:nvPr/>
        </p:nvSpPr>
        <p:spPr>
          <a:xfrm>
            <a:off x="609585" y="4357489"/>
            <a:ext cx="115821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84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RESPONSE HANDLERS</a:t>
            </a:r>
            <a:endParaRPr lang="en-US" sz="1050" dirty="0"/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0218AC1C-8849-2030-CC67-17EAFD3A6FDE}"/>
              </a:ext>
            </a:extLst>
          </p:cNvPr>
          <p:cNvSpPr/>
          <p:nvPr/>
        </p:nvSpPr>
        <p:spPr>
          <a:xfrm>
            <a:off x="609585" y="4679355"/>
            <a:ext cx="3555911" cy="1410593"/>
          </a:xfrm>
          <a:prstGeom prst="roundRect">
            <a:avLst>
              <a:gd name="adj" fmla="val 810"/>
            </a:avLst>
          </a:prstGeom>
          <a:solidFill>
            <a:srgbClr val="F0F3EC"/>
          </a:solidFill>
          <a:ln/>
        </p:spPr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49B8845B-448B-0EA9-4E6E-E5ACA193AD92}"/>
              </a:ext>
            </a:extLst>
          </p:cNvPr>
          <p:cNvSpPr/>
          <p:nvPr/>
        </p:nvSpPr>
        <p:spPr>
          <a:xfrm>
            <a:off x="4317892" y="4679355"/>
            <a:ext cx="3555911" cy="1410593"/>
          </a:xfrm>
          <a:prstGeom prst="roundRect">
            <a:avLst>
              <a:gd name="adj" fmla="val 810"/>
            </a:avLst>
          </a:prstGeom>
          <a:solidFill>
            <a:srgbClr val="F0F3EC"/>
          </a:solidFill>
          <a:ln/>
        </p:spPr>
      </p:sp>
      <p:sp>
        <p:nvSpPr>
          <p:cNvPr id="31" name="Shape 19">
            <a:extLst>
              <a:ext uri="{FF2B5EF4-FFF2-40B4-BE49-F238E27FC236}">
                <a16:creationId xmlns:a16="http://schemas.microsoft.com/office/drawing/2014/main" id="{132FC4F4-A66D-C722-73D5-AAB2AA529DFE}"/>
              </a:ext>
            </a:extLst>
          </p:cNvPr>
          <p:cNvSpPr/>
          <p:nvPr/>
        </p:nvSpPr>
        <p:spPr>
          <a:xfrm>
            <a:off x="8026199" y="4679355"/>
            <a:ext cx="3555911" cy="1410593"/>
          </a:xfrm>
          <a:prstGeom prst="roundRect">
            <a:avLst>
              <a:gd name="adj" fmla="val 810"/>
            </a:avLst>
          </a:prstGeom>
          <a:solidFill>
            <a:srgbClr val="F0F3EC"/>
          </a:solidFill>
          <a:ln/>
        </p:spPr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2C604558-A60D-D7A3-3B20-2384D1479A32}"/>
              </a:ext>
            </a:extLst>
          </p:cNvPr>
          <p:cNvSpPr/>
          <p:nvPr/>
        </p:nvSpPr>
        <p:spPr>
          <a:xfrm>
            <a:off x="838179" y="5264864"/>
            <a:ext cx="309872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Success response</a:t>
            </a:r>
            <a:endParaRPr lang="en-US" sz="145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6E8EC284-157F-68B8-2647-4DBB529CA0C8}"/>
              </a:ext>
            </a:extLst>
          </p:cNvPr>
          <p:cNvSpPr/>
          <p:nvPr/>
        </p:nvSpPr>
        <p:spPr>
          <a:xfrm>
            <a:off x="838179" y="5612507"/>
            <a:ext cx="332731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The bank call completes.</a:t>
            </a:r>
            <a:endParaRPr lang="en-US" sz="140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81C1F8D5-085C-F1BC-588F-40FAB3721C0D}"/>
              </a:ext>
            </a:extLst>
          </p:cNvPr>
          <p:cNvSpPr/>
          <p:nvPr/>
        </p:nvSpPr>
        <p:spPr>
          <a:xfrm>
            <a:off x="4546486" y="5264864"/>
            <a:ext cx="309872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Timeout handling</a:t>
            </a:r>
            <a:endParaRPr lang="en-US" sz="1450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0EC8FFA4-0A6E-96EB-FC29-3FFC96E2F721}"/>
              </a:ext>
            </a:extLst>
          </p:cNvPr>
          <p:cNvSpPr/>
          <p:nvPr/>
        </p:nvSpPr>
        <p:spPr>
          <a:xfrm>
            <a:off x="4546486" y="5612507"/>
            <a:ext cx="332731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The dependency exceeds the timeout.</a:t>
            </a:r>
            <a:endParaRPr lang="en-US" sz="1400" dirty="0"/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4FC38CD3-F079-DB26-7637-635704FBC8AA}"/>
              </a:ext>
            </a:extLst>
          </p:cNvPr>
          <p:cNvSpPr/>
          <p:nvPr/>
        </p:nvSpPr>
        <p:spPr>
          <a:xfrm>
            <a:off x="8254793" y="5264864"/>
            <a:ext cx="3098722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Failure or open circuit</a:t>
            </a:r>
            <a:endParaRPr lang="en-US" sz="1450" dirty="0"/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3991D0D9-88AC-762D-50C8-8C5E50E30DB6}"/>
              </a:ext>
            </a:extLst>
          </p:cNvPr>
          <p:cNvSpPr/>
          <p:nvPr/>
        </p:nvSpPr>
        <p:spPr>
          <a:xfrm>
            <a:off x="8254793" y="5612507"/>
            <a:ext cx="332731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The service is unavailable.</a:t>
            </a:r>
            <a:endParaRPr lang="en-US" sz="1400" dirty="0"/>
          </a:p>
        </p:txBody>
      </p:sp>
      <p:sp>
        <p:nvSpPr>
          <p:cNvPr id="47" name="Shape 10">
            <a:extLst>
              <a:ext uri="{FF2B5EF4-FFF2-40B4-BE49-F238E27FC236}">
                <a16:creationId xmlns:a16="http://schemas.microsoft.com/office/drawing/2014/main" id="{3FA90BF4-B840-05D5-E865-A448E36A2041}"/>
              </a:ext>
            </a:extLst>
          </p:cNvPr>
          <p:cNvSpPr/>
          <p:nvPr/>
        </p:nvSpPr>
        <p:spPr>
          <a:xfrm>
            <a:off x="838179" y="4907955"/>
            <a:ext cx="1020439" cy="277217"/>
          </a:xfrm>
          <a:prstGeom prst="roundRect">
            <a:avLst>
              <a:gd name="adj" fmla="val 8246"/>
            </a:avLst>
          </a:prstGeom>
          <a:solidFill>
            <a:srgbClr val="197A46"/>
          </a:solidFill>
          <a:ln/>
        </p:spPr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E79E0163-3150-2476-29BC-12CF4E53C22C}"/>
              </a:ext>
            </a:extLst>
          </p:cNvPr>
          <p:cNvSpPr/>
          <p:nvPr/>
        </p:nvSpPr>
        <p:spPr>
          <a:xfrm>
            <a:off x="944837" y="4966188"/>
            <a:ext cx="1416709" cy="1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67" dirty="0">
                <a:solidFill>
                  <a:srgbClr val="FFFFFF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HTTP 200</a:t>
            </a:r>
            <a:endParaRPr lang="en-US" sz="1100" dirty="0"/>
          </a:p>
        </p:txBody>
      </p:sp>
      <p:sp>
        <p:nvSpPr>
          <p:cNvPr id="53" name="Shape 15">
            <a:extLst>
              <a:ext uri="{FF2B5EF4-FFF2-40B4-BE49-F238E27FC236}">
                <a16:creationId xmlns:a16="http://schemas.microsoft.com/office/drawing/2014/main" id="{D609E98C-7472-A749-0A2D-CE567108A55A}"/>
              </a:ext>
            </a:extLst>
          </p:cNvPr>
          <p:cNvSpPr/>
          <p:nvPr/>
        </p:nvSpPr>
        <p:spPr>
          <a:xfrm>
            <a:off x="4546486" y="4907955"/>
            <a:ext cx="1020439" cy="277217"/>
          </a:xfrm>
          <a:prstGeom prst="roundRect">
            <a:avLst>
              <a:gd name="adj" fmla="val 8246"/>
            </a:avLst>
          </a:prstGeom>
          <a:solidFill>
            <a:srgbClr val="D99A0B"/>
          </a:solidFill>
          <a:ln/>
        </p:spPr>
      </p:sp>
      <p:sp>
        <p:nvSpPr>
          <p:cNvPr id="55" name="Text 16">
            <a:extLst>
              <a:ext uri="{FF2B5EF4-FFF2-40B4-BE49-F238E27FC236}">
                <a16:creationId xmlns:a16="http://schemas.microsoft.com/office/drawing/2014/main" id="{18FEA811-6958-A6CB-6C63-740EEC5F6C2A}"/>
              </a:ext>
            </a:extLst>
          </p:cNvPr>
          <p:cNvSpPr/>
          <p:nvPr/>
        </p:nvSpPr>
        <p:spPr>
          <a:xfrm>
            <a:off x="4653144" y="4966188"/>
            <a:ext cx="1416709" cy="1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67" dirty="0">
                <a:solidFill>
                  <a:srgbClr val="00000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HTTP 504</a:t>
            </a:r>
            <a:endParaRPr lang="en-US" sz="1100" dirty="0"/>
          </a:p>
        </p:txBody>
      </p:sp>
      <p:sp>
        <p:nvSpPr>
          <p:cNvPr id="57" name="Shape 20">
            <a:extLst>
              <a:ext uri="{FF2B5EF4-FFF2-40B4-BE49-F238E27FC236}">
                <a16:creationId xmlns:a16="http://schemas.microsoft.com/office/drawing/2014/main" id="{20197FE6-13E3-8E22-B06A-3F1F32D19CA5}"/>
              </a:ext>
            </a:extLst>
          </p:cNvPr>
          <p:cNvSpPr/>
          <p:nvPr/>
        </p:nvSpPr>
        <p:spPr>
          <a:xfrm>
            <a:off x="8254793" y="4907955"/>
            <a:ext cx="1020439" cy="277217"/>
          </a:xfrm>
          <a:prstGeom prst="roundRect">
            <a:avLst>
              <a:gd name="adj" fmla="val 8246"/>
            </a:avLst>
          </a:prstGeom>
          <a:solidFill>
            <a:srgbClr val="C23A2F"/>
          </a:solidFill>
          <a:ln/>
        </p:spPr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ED6970E2-45A2-2EA7-B708-0068A837374C}"/>
              </a:ext>
            </a:extLst>
          </p:cNvPr>
          <p:cNvSpPr/>
          <p:nvPr/>
        </p:nvSpPr>
        <p:spPr>
          <a:xfrm>
            <a:off x="8361451" y="4966188"/>
            <a:ext cx="1416709" cy="1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67" dirty="0">
                <a:solidFill>
                  <a:srgbClr val="FFFFFF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HTTP 503</a:t>
            </a:r>
            <a:endParaRPr lang="en-US" sz="1100" dirty="0"/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8AFA19EC-4CBB-7673-9AE2-0DDEF3B94C71}"/>
              </a:ext>
            </a:extLst>
          </p:cNvPr>
          <p:cNvSpPr txBox="1"/>
          <p:nvPr/>
        </p:nvSpPr>
        <p:spPr>
          <a:xfrm>
            <a:off x="594360" y="1208135"/>
            <a:ext cx="10972800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67787"/>
                </a:solidFill>
                <a:latin typeface="Aptos"/>
              </a:rPr>
              <a:t>The route handles the successful result and maps timeout or availability errors to HTTP responses.</a:t>
            </a:r>
          </a:p>
        </p:txBody>
      </p:sp>
    </p:spTree>
    <p:extLst>
      <p:ext uri="{BB962C8B-B14F-4D97-AF65-F5344CB8AC3E}">
        <p14:creationId xmlns:p14="http://schemas.microsoft.com/office/powerpoint/2010/main" val="3350586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4169496F-C164-408E-6603-023C06823A72}"/>
              </a:ext>
            </a:extLst>
          </p:cNvPr>
          <p:cNvSpPr/>
          <p:nvPr/>
        </p:nvSpPr>
        <p:spPr>
          <a:xfrm>
            <a:off x="609585" y="612775"/>
            <a:ext cx="115821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84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09 · HANDS-ON TESTS</a:t>
            </a:r>
            <a:endParaRPr lang="en-US" sz="105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116C7C03-DB06-EEFF-258B-8C9C12B2E599}"/>
              </a:ext>
            </a:extLst>
          </p:cNvPr>
          <p:cNvSpPr/>
          <p:nvPr/>
        </p:nvSpPr>
        <p:spPr>
          <a:xfrm>
            <a:off x="609585" y="858440"/>
            <a:ext cx="1097252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500" b="1" kern="100" spc="-25" dirty="0">
                <a:solidFill>
                  <a:srgbClr val="1A1F26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Postman tests the three outcomes</a:t>
            </a:r>
            <a:endParaRPr lang="en-US" sz="25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54CCC364-4810-2446-177C-41A815A5AAC1}"/>
              </a:ext>
            </a:extLst>
          </p:cNvPr>
          <p:cNvSpPr/>
          <p:nvPr/>
        </p:nvSpPr>
        <p:spPr>
          <a:xfrm>
            <a:off x="609585" y="1375966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57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Endpoint: POST http://localhost:3000/api/v1/payout/demo</a:t>
            </a:r>
            <a:endParaRPr lang="en-US" sz="11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61399A29-704D-44F1-8F46-9F790F75D8E1}"/>
              </a:ext>
            </a:extLst>
          </p:cNvPr>
          <p:cNvSpPr/>
          <p:nvPr/>
        </p:nvSpPr>
        <p:spPr>
          <a:xfrm>
            <a:off x="609585" y="1729581"/>
            <a:ext cx="3454314" cy="4366419"/>
          </a:xfrm>
          <a:prstGeom prst="roundRect">
            <a:avLst>
              <a:gd name="adj" fmla="val 2206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5F363812-5659-0A99-08FA-2A359B8A8359}"/>
              </a:ext>
            </a:extLst>
          </p:cNvPr>
          <p:cNvSpPr/>
          <p:nvPr/>
        </p:nvSpPr>
        <p:spPr>
          <a:xfrm>
            <a:off x="850879" y="1974056"/>
            <a:ext cx="321302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100" spc="63" dirty="0">
                <a:solidFill>
                  <a:srgbClr val="5B657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NORMAL</a:t>
            </a:r>
            <a:endParaRPr lang="en-US" sz="105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FF4CF078-9CFD-B069-035F-967509F40AB2}"/>
              </a:ext>
            </a:extLst>
          </p:cNvPr>
          <p:cNvSpPr/>
          <p:nvPr/>
        </p:nvSpPr>
        <p:spPr>
          <a:xfrm>
            <a:off x="850879" y="2208281"/>
            <a:ext cx="2971726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Request</a:t>
            </a:r>
            <a:endParaRPr lang="en-US" sz="170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67C5AB27-99BE-8E9C-7068-31459FA4F689}"/>
              </a:ext>
            </a:extLst>
          </p:cNvPr>
          <p:cNvSpPr/>
          <p:nvPr/>
        </p:nvSpPr>
        <p:spPr>
          <a:xfrm>
            <a:off x="850879" y="2662932"/>
            <a:ext cx="2971726" cy="924520"/>
          </a:xfrm>
          <a:prstGeom prst="roundRect">
            <a:avLst>
              <a:gd name="adj" fmla="val 1236"/>
            </a:avLst>
          </a:prstGeom>
          <a:solidFill>
            <a:srgbClr val="EDF0F1"/>
          </a:solidFill>
          <a:ln/>
        </p:spPr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9F7D329D-1551-63BD-BF6D-89950B74871E}"/>
              </a:ext>
            </a:extLst>
          </p:cNvPr>
          <p:cNvSpPr/>
          <p:nvPr/>
        </p:nvSpPr>
        <p:spPr>
          <a:xfrm>
            <a:off x="1064194" y="2841049"/>
            <a:ext cx="254509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{"amount": 500, "mode": "normal"}</a:t>
            </a:r>
            <a:endParaRPr lang="en-US" sz="1400" dirty="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44E0E5CC-F17F-33B6-641A-DDBC12969580}"/>
              </a:ext>
            </a:extLst>
          </p:cNvPr>
          <p:cNvSpPr/>
          <p:nvPr/>
        </p:nvSpPr>
        <p:spPr>
          <a:xfrm>
            <a:off x="850879" y="5220692"/>
            <a:ext cx="1020439" cy="277217"/>
          </a:xfrm>
          <a:prstGeom prst="roundRect">
            <a:avLst>
              <a:gd name="adj" fmla="val 8246"/>
            </a:avLst>
          </a:prstGeom>
          <a:solidFill>
            <a:srgbClr val="197A46"/>
          </a:solidFill>
          <a:ln/>
        </p:spPr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97C5DF6E-39B0-69B2-E41B-0E1023DFF247}"/>
              </a:ext>
            </a:extLst>
          </p:cNvPr>
          <p:cNvSpPr/>
          <p:nvPr/>
        </p:nvSpPr>
        <p:spPr>
          <a:xfrm>
            <a:off x="957536" y="5278926"/>
            <a:ext cx="1416709" cy="1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67" dirty="0">
                <a:solidFill>
                  <a:srgbClr val="FFFFFF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HTTP 200</a:t>
            </a:r>
            <a:endParaRPr lang="en-US" sz="11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85E2A2B4-C66A-A435-1178-316C192CDE67}"/>
              </a:ext>
            </a:extLst>
          </p:cNvPr>
          <p:cNvSpPr/>
          <p:nvPr/>
        </p:nvSpPr>
        <p:spPr>
          <a:xfrm>
            <a:off x="850879" y="5605859"/>
            <a:ext cx="32130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Bank completes normally.</a:t>
            </a:r>
            <a:endParaRPr lang="en-US" sz="1400" dirty="0"/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AB40A61F-F5A7-5D0D-D27D-BA62A4444590}"/>
              </a:ext>
            </a:extLst>
          </p:cNvPr>
          <p:cNvSpPr/>
          <p:nvPr/>
        </p:nvSpPr>
        <p:spPr>
          <a:xfrm>
            <a:off x="4368691" y="1729581"/>
            <a:ext cx="3454314" cy="4366419"/>
          </a:xfrm>
          <a:prstGeom prst="roundRect">
            <a:avLst>
              <a:gd name="adj" fmla="val 2206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29" name="Shape 19">
            <a:extLst>
              <a:ext uri="{FF2B5EF4-FFF2-40B4-BE49-F238E27FC236}">
                <a16:creationId xmlns:a16="http://schemas.microsoft.com/office/drawing/2014/main" id="{9E21832B-EC5C-34F0-B2BA-58A076745875}"/>
              </a:ext>
            </a:extLst>
          </p:cNvPr>
          <p:cNvSpPr/>
          <p:nvPr/>
        </p:nvSpPr>
        <p:spPr>
          <a:xfrm>
            <a:off x="8127797" y="1729581"/>
            <a:ext cx="3454314" cy="4366419"/>
          </a:xfrm>
          <a:prstGeom prst="roundRect">
            <a:avLst>
              <a:gd name="adj" fmla="val 2206"/>
            </a:avLst>
          </a:prstGeom>
          <a:solidFill>
            <a:srgbClr val="E8E5FA"/>
          </a:solidFill>
          <a:ln w="12700">
            <a:solidFill>
              <a:srgbClr val="4C3BCF"/>
            </a:solidFill>
            <a:prstDash val="solid"/>
          </a:ln>
        </p:spPr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798EC91B-F3C1-EDA5-AE7D-F231847A96BE}"/>
              </a:ext>
            </a:extLst>
          </p:cNvPr>
          <p:cNvSpPr/>
          <p:nvPr/>
        </p:nvSpPr>
        <p:spPr>
          <a:xfrm>
            <a:off x="4609985" y="1974056"/>
            <a:ext cx="321302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100" spc="63" dirty="0">
                <a:solidFill>
                  <a:srgbClr val="5B657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SLOW</a:t>
            </a:r>
            <a:endParaRPr lang="en-US" sz="1050" dirty="0"/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1E22695C-90A0-31D3-84F0-A628A1FE9E33}"/>
              </a:ext>
            </a:extLst>
          </p:cNvPr>
          <p:cNvSpPr/>
          <p:nvPr/>
        </p:nvSpPr>
        <p:spPr>
          <a:xfrm>
            <a:off x="8369091" y="1974056"/>
            <a:ext cx="321302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100" spc="63" dirty="0">
                <a:solidFill>
                  <a:srgbClr val="00000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FAIL</a:t>
            </a:r>
            <a:endParaRPr lang="en-US" sz="105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417F2A76-FD68-EAD5-CFAC-DFC1554FFED9}"/>
              </a:ext>
            </a:extLst>
          </p:cNvPr>
          <p:cNvSpPr/>
          <p:nvPr/>
        </p:nvSpPr>
        <p:spPr>
          <a:xfrm>
            <a:off x="4609985" y="2208281"/>
            <a:ext cx="2971726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Request</a:t>
            </a:r>
            <a:endParaRPr lang="en-US" sz="1700" dirty="0"/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74850249-96FD-7561-4B2C-EA604321D329}"/>
              </a:ext>
            </a:extLst>
          </p:cNvPr>
          <p:cNvSpPr/>
          <p:nvPr/>
        </p:nvSpPr>
        <p:spPr>
          <a:xfrm>
            <a:off x="8369091" y="2208281"/>
            <a:ext cx="2971726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Request</a:t>
            </a:r>
            <a:endParaRPr lang="en-US" sz="1700" dirty="0"/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EA557444-2567-B27A-21ED-ED64EA24F328}"/>
              </a:ext>
            </a:extLst>
          </p:cNvPr>
          <p:cNvSpPr/>
          <p:nvPr/>
        </p:nvSpPr>
        <p:spPr>
          <a:xfrm>
            <a:off x="4609985" y="2662932"/>
            <a:ext cx="2971726" cy="924520"/>
          </a:xfrm>
          <a:prstGeom prst="roundRect">
            <a:avLst>
              <a:gd name="adj" fmla="val 1236"/>
            </a:avLst>
          </a:prstGeom>
          <a:solidFill>
            <a:srgbClr val="EDF0F1"/>
          </a:solidFill>
          <a:ln/>
        </p:spPr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2B12DE42-C58F-1098-77B5-A3BC0217C672}"/>
              </a:ext>
            </a:extLst>
          </p:cNvPr>
          <p:cNvSpPr/>
          <p:nvPr/>
        </p:nvSpPr>
        <p:spPr>
          <a:xfrm>
            <a:off x="8369091" y="2673370"/>
            <a:ext cx="2971726" cy="765320"/>
          </a:xfrm>
          <a:prstGeom prst="roundRect">
            <a:avLst>
              <a:gd name="adj" fmla="val 1786"/>
            </a:avLst>
          </a:prstGeom>
          <a:solidFill>
            <a:srgbClr val="EDF0F1"/>
          </a:solidFill>
          <a:ln/>
        </p:spPr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DC434727-C039-EFD8-7F7B-A62703F7D1E2}"/>
              </a:ext>
            </a:extLst>
          </p:cNvPr>
          <p:cNvSpPr/>
          <p:nvPr/>
        </p:nvSpPr>
        <p:spPr>
          <a:xfrm>
            <a:off x="4823300" y="2841049"/>
            <a:ext cx="254509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{"amount": 500, "mode": "slow"}</a:t>
            </a:r>
            <a:endParaRPr lang="en-US" sz="1400" dirty="0"/>
          </a:p>
        </p:txBody>
      </p:sp>
      <p:sp>
        <p:nvSpPr>
          <p:cNvPr id="45" name="Text 23">
            <a:extLst>
              <a:ext uri="{FF2B5EF4-FFF2-40B4-BE49-F238E27FC236}">
                <a16:creationId xmlns:a16="http://schemas.microsoft.com/office/drawing/2014/main" id="{B41A86A1-C82F-7759-9EF1-A84619446000}"/>
              </a:ext>
            </a:extLst>
          </p:cNvPr>
          <p:cNvSpPr/>
          <p:nvPr/>
        </p:nvSpPr>
        <p:spPr>
          <a:xfrm>
            <a:off x="8582406" y="2684473"/>
            <a:ext cx="1872364" cy="451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24292E"/>
                </a:solidFill>
                <a:latin typeface="Consolas"/>
                <a:ea typeface="Consolas" pitchFamily="34" charset="-122"/>
                <a:cs typeface="Consolas" pitchFamily="34" charset="-120"/>
              </a:rPr>
              <a:t>{"amount": 500, </a:t>
            </a:r>
            <a:endParaRPr lang="en-US" sz="1400" dirty="0">
              <a:solidFill>
                <a:srgbClr val="000000"/>
              </a:solidFill>
              <a:latin typeface="Consolas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>
                <a:solidFill>
                  <a:srgbClr val="24292E"/>
                </a:solidFill>
                <a:latin typeface="Consolas"/>
                <a:ea typeface="Consolas" pitchFamily="34" charset="-122"/>
                <a:cs typeface="Consolas" pitchFamily="34" charset="-120"/>
              </a:rPr>
              <a:t>"mode": "fail"}</a:t>
            </a:r>
            <a:endParaRPr lang="en-US" sz="1400">
              <a:latin typeface="Consolas"/>
            </a:endParaRPr>
          </a:p>
        </p:txBody>
      </p:sp>
      <p:sp>
        <p:nvSpPr>
          <p:cNvPr id="47" name="Shape 16">
            <a:extLst>
              <a:ext uri="{FF2B5EF4-FFF2-40B4-BE49-F238E27FC236}">
                <a16:creationId xmlns:a16="http://schemas.microsoft.com/office/drawing/2014/main" id="{AA6B6567-5F38-0B4B-F4BD-97827CED5A67}"/>
              </a:ext>
            </a:extLst>
          </p:cNvPr>
          <p:cNvSpPr/>
          <p:nvPr/>
        </p:nvSpPr>
        <p:spPr>
          <a:xfrm>
            <a:off x="4609985" y="5220692"/>
            <a:ext cx="1020439" cy="277217"/>
          </a:xfrm>
          <a:prstGeom prst="roundRect">
            <a:avLst>
              <a:gd name="adj" fmla="val 8246"/>
            </a:avLst>
          </a:prstGeom>
          <a:solidFill>
            <a:srgbClr val="D99A0B"/>
          </a:solidFill>
          <a:ln/>
        </p:spPr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D31C1FAD-FE28-8AFE-C271-7C9BCDA9B40D}"/>
              </a:ext>
            </a:extLst>
          </p:cNvPr>
          <p:cNvSpPr/>
          <p:nvPr/>
        </p:nvSpPr>
        <p:spPr>
          <a:xfrm>
            <a:off x="8369091" y="5220692"/>
            <a:ext cx="1020439" cy="277217"/>
          </a:xfrm>
          <a:prstGeom prst="roundRect">
            <a:avLst>
              <a:gd name="adj" fmla="val 8246"/>
            </a:avLst>
          </a:prstGeom>
          <a:solidFill>
            <a:srgbClr val="C23A2F"/>
          </a:solidFill>
          <a:ln/>
        </p:spPr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3FE8362D-BA56-DE87-E2A9-0BE94E0E6892}"/>
              </a:ext>
            </a:extLst>
          </p:cNvPr>
          <p:cNvSpPr/>
          <p:nvPr/>
        </p:nvSpPr>
        <p:spPr>
          <a:xfrm>
            <a:off x="4716642" y="5278926"/>
            <a:ext cx="1416709" cy="1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67" dirty="0">
                <a:solidFill>
                  <a:srgbClr val="00000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HTTP 504</a:t>
            </a:r>
            <a:endParaRPr lang="en-US" sz="1100" dirty="0"/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A4022D64-FFF0-DE6F-9246-6963BAB48BE5}"/>
              </a:ext>
            </a:extLst>
          </p:cNvPr>
          <p:cNvSpPr/>
          <p:nvPr/>
        </p:nvSpPr>
        <p:spPr>
          <a:xfrm>
            <a:off x="8369091" y="5605859"/>
            <a:ext cx="32130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Bank fails or circuit is open.</a:t>
            </a:r>
            <a:endParaRPr lang="en-US" sz="1400" dirty="0"/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AB52D3BA-F40F-EEF1-2CF0-018941736D73}"/>
              </a:ext>
            </a:extLst>
          </p:cNvPr>
          <p:cNvSpPr/>
          <p:nvPr/>
        </p:nvSpPr>
        <p:spPr>
          <a:xfrm>
            <a:off x="4609985" y="5605859"/>
            <a:ext cx="32130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Breaker timeout is reached.</a:t>
            </a:r>
            <a:endParaRPr lang="en-US" sz="1400" dirty="0"/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3056396A-E1F9-BC8C-9371-58FD76A1F0C8}"/>
              </a:ext>
            </a:extLst>
          </p:cNvPr>
          <p:cNvSpPr/>
          <p:nvPr/>
        </p:nvSpPr>
        <p:spPr>
          <a:xfrm>
            <a:off x="8475748" y="5278926"/>
            <a:ext cx="1416709" cy="170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100" spc="67" dirty="0">
                <a:solidFill>
                  <a:srgbClr val="FFFFFF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HTTP 503</a:t>
            </a:r>
            <a:endParaRPr lang="en-US" sz="1100" dirty="0"/>
          </a:p>
        </p:txBody>
      </p:sp>
      <p:sp>
        <p:nvSpPr>
          <p:cNvPr id="59" name="Text 39">
            <a:extLst>
              <a:ext uri="{FF2B5EF4-FFF2-40B4-BE49-F238E27FC236}">
                <a16:creationId xmlns:a16="http://schemas.microsoft.com/office/drawing/2014/main" id="{AB3EFF5A-63E3-FF13-4A5A-318D02D592EA}"/>
              </a:ext>
            </a:extLst>
          </p:cNvPr>
          <p:cNvSpPr/>
          <p:nvPr/>
        </p:nvSpPr>
        <p:spPr>
          <a:xfrm>
            <a:off x="516903" y="6638040"/>
            <a:ext cx="2696760" cy="12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00" kern="100" spc="57">
                <a:solidFill>
                  <a:srgbClr val="5B6570"/>
                </a:solidFill>
                <a:latin typeface="Atkinson Hyperlegible Next"/>
                <a:ea typeface="B612 Mono"/>
              </a:rPr>
              <a:t>Timeouts and Circuit Breakers</a:t>
            </a:r>
            <a:endParaRPr lang="en-US" sz="1400" kern="100" spc="57">
              <a:solidFill>
                <a:srgbClr val="000000"/>
              </a:solidFill>
              <a:latin typeface="Atkinson Hyperlegible Next"/>
              <a:ea typeface="B612 Mono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950" kern="100" spc="57" dirty="0">
              <a:solidFill>
                <a:srgbClr val="2A313A"/>
              </a:solidFill>
              <a:latin typeface="B612 Mono"/>
              <a:ea typeface="B612 Mono"/>
            </a:endParaRPr>
          </a:p>
        </p:txBody>
      </p:sp>
      <p:sp>
        <p:nvSpPr>
          <p:cNvPr id="61" name="Text 40">
            <a:extLst>
              <a:ext uri="{FF2B5EF4-FFF2-40B4-BE49-F238E27FC236}">
                <a16:creationId xmlns:a16="http://schemas.microsoft.com/office/drawing/2014/main" id="{11B386AB-0221-A22A-E123-C1B943224FA1}"/>
              </a:ext>
            </a:extLst>
          </p:cNvPr>
          <p:cNvSpPr/>
          <p:nvPr/>
        </p:nvSpPr>
        <p:spPr>
          <a:xfrm>
            <a:off x="11419495" y="6481465"/>
            <a:ext cx="77220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7000"/>
              </a:lnSpc>
            </a:pPr>
            <a:r>
              <a:rPr lang="en-US" sz="950" kern="100" spc="57">
                <a:solidFill>
                  <a:srgbClr val="2A313A"/>
                </a:solidFill>
                <a:latin typeface="B612 Mono"/>
                <a:ea typeface="B612 Mono"/>
                <a:cs typeface="B612 Mono" pitchFamily="34" charset="-120"/>
              </a:rPr>
              <a:t>09 / 10</a:t>
            </a:r>
            <a:endParaRPr lang="en-US" sz="950">
              <a:latin typeface="B612 Mono"/>
              <a:ea typeface="B612 Mono"/>
            </a:endParaRPr>
          </a:p>
        </p:txBody>
      </p:sp>
    </p:spTree>
    <p:extLst>
      <p:ext uri="{BB962C8B-B14F-4D97-AF65-F5344CB8AC3E}">
        <p14:creationId xmlns:p14="http://schemas.microsoft.com/office/powerpoint/2010/main" val="4229213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6CD6E8AF-1B06-7AFB-6E35-6938C9BFB4D8}"/>
              </a:ext>
            </a:extLst>
          </p:cNvPr>
          <p:cNvSpPr/>
          <p:nvPr/>
        </p:nvSpPr>
        <p:spPr>
          <a:xfrm>
            <a:off x="609585" y="612775"/>
            <a:ext cx="115821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84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10 · TERMINAL RECAP</a:t>
            </a:r>
            <a:endParaRPr lang="en-US" sz="105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643FB3F0-CA90-E764-B10B-CD0818763AC4}"/>
              </a:ext>
            </a:extLst>
          </p:cNvPr>
          <p:cNvSpPr/>
          <p:nvPr/>
        </p:nvSpPr>
        <p:spPr>
          <a:xfrm>
            <a:off x="609585" y="858440"/>
            <a:ext cx="10972526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500" b="1" kern="100" spc="-25" dirty="0">
                <a:solidFill>
                  <a:srgbClr val="1A1F26"/>
                </a:solidFill>
                <a:latin typeface="B612 Bold" pitchFamily="34" charset="0"/>
                <a:ea typeface="B612 Bold" pitchFamily="34" charset="-122"/>
                <a:cs typeface="B612 Bold" pitchFamily="34" charset="-120"/>
              </a:rPr>
              <a:t>Terminal output mirrors the state machine</a:t>
            </a:r>
            <a:endParaRPr lang="en-US" sz="25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B1EE3455-62C3-DB11-96A3-900D7A425613}"/>
              </a:ext>
            </a:extLst>
          </p:cNvPr>
          <p:cNvSpPr/>
          <p:nvPr/>
        </p:nvSpPr>
        <p:spPr>
          <a:xfrm>
            <a:off x="609585" y="1375966"/>
            <a:ext cx="4731921" cy="4720034"/>
          </a:xfrm>
          <a:prstGeom prst="roundRect">
            <a:avLst>
              <a:gd name="adj" fmla="val 1614"/>
            </a:avLst>
          </a:prstGeom>
          <a:solidFill>
            <a:srgbClr val="E8E5FA"/>
          </a:solidFill>
          <a:ln w="12700">
            <a:solidFill>
              <a:srgbClr val="4C3BCF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F13E41B-509D-C772-1DE1-F329C2BC0116}"/>
              </a:ext>
            </a:extLst>
          </p:cNvPr>
          <p:cNvSpPr/>
          <p:nvPr/>
        </p:nvSpPr>
        <p:spPr>
          <a:xfrm>
            <a:off x="5798596" y="1607741"/>
            <a:ext cx="5783515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84" dirty="0">
                <a:solidFill>
                  <a:srgbClr val="5B6570"/>
                </a:solidFill>
                <a:latin typeface="B612 Mono" pitchFamily="34" charset="0"/>
                <a:ea typeface="B612 Mono" pitchFamily="34" charset="-122"/>
                <a:cs typeface="B612 Mono" pitchFamily="34" charset="-120"/>
              </a:rPr>
              <a:t>IMPLEMENTATION LOOP</a:t>
            </a:r>
            <a:endParaRPr lang="en-US" sz="105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DBB445EE-1F8F-7FE7-4195-AEAE2928E643}"/>
              </a:ext>
            </a:extLst>
          </p:cNvPr>
          <p:cNvSpPr/>
          <p:nvPr/>
        </p:nvSpPr>
        <p:spPr>
          <a:xfrm>
            <a:off x="5798596" y="1872456"/>
            <a:ext cx="1724577" cy="2919794"/>
          </a:xfrm>
          <a:prstGeom prst="roundRect">
            <a:avLst>
              <a:gd name="adj" fmla="val 4418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3B6D900F-F031-99FC-A032-D52F3A6EE31D}"/>
              </a:ext>
            </a:extLst>
          </p:cNvPr>
          <p:cNvSpPr/>
          <p:nvPr/>
        </p:nvSpPr>
        <p:spPr>
          <a:xfrm>
            <a:off x="7827965" y="1872456"/>
            <a:ext cx="1724676" cy="2919794"/>
          </a:xfrm>
          <a:prstGeom prst="roundRect">
            <a:avLst>
              <a:gd name="adj" fmla="val 4418"/>
            </a:avLst>
          </a:prstGeom>
          <a:noFill/>
          <a:ln w="12700">
            <a:solidFill>
              <a:srgbClr val="1A1F26"/>
            </a:solidFill>
            <a:prstDash val="solid"/>
          </a:ln>
        </p:spPr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D9101031-7C38-C2A5-D152-6255B4702280}"/>
              </a:ext>
            </a:extLst>
          </p:cNvPr>
          <p:cNvSpPr/>
          <p:nvPr/>
        </p:nvSpPr>
        <p:spPr>
          <a:xfrm>
            <a:off x="9857434" y="1872456"/>
            <a:ext cx="1714139" cy="2919794"/>
          </a:xfrm>
          <a:prstGeom prst="roundRect">
            <a:avLst>
              <a:gd name="adj" fmla="val 4418"/>
            </a:avLst>
          </a:prstGeom>
          <a:solidFill>
            <a:srgbClr val="E8E5FA"/>
          </a:solidFill>
          <a:ln w="12700">
            <a:solidFill>
              <a:srgbClr val="4C3BCF"/>
            </a:solidFill>
            <a:prstDash val="solid"/>
          </a:ln>
        </p:spPr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6445A72A-FDBC-1487-BE47-D89957E946E9}"/>
              </a:ext>
            </a:extLst>
          </p:cNvPr>
          <p:cNvSpPr/>
          <p:nvPr/>
        </p:nvSpPr>
        <p:spPr>
          <a:xfrm>
            <a:off x="6039890" y="2113756"/>
            <a:ext cx="802759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4C3BCF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C000DEF4-54BF-82E8-7679-E619C5816079}"/>
              </a:ext>
            </a:extLst>
          </p:cNvPr>
          <p:cNvSpPr/>
          <p:nvPr/>
        </p:nvSpPr>
        <p:spPr>
          <a:xfrm>
            <a:off x="8069259" y="2113756"/>
            <a:ext cx="82746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4C3BCF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509E2C7A-05C9-660D-14D0-BA9FEB45183E}"/>
              </a:ext>
            </a:extLst>
          </p:cNvPr>
          <p:cNvSpPr/>
          <p:nvPr/>
        </p:nvSpPr>
        <p:spPr>
          <a:xfrm>
            <a:off x="10098728" y="2113756"/>
            <a:ext cx="831532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8FC2B26B-CC33-7087-138D-6721913602ED}"/>
              </a:ext>
            </a:extLst>
          </p:cNvPr>
          <p:cNvSpPr/>
          <p:nvPr/>
        </p:nvSpPr>
        <p:spPr>
          <a:xfrm>
            <a:off x="6039890" y="2362696"/>
            <a:ext cx="1241989" cy="19050"/>
          </a:xfrm>
          <a:prstGeom prst="rect">
            <a:avLst/>
          </a:prstGeom>
          <a:solidFill>
            <a:srgbClr val="4C3BCF"/>
          </a:solidFill>
          <a:ln/>
        </p:spPr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2FD446F6-665C-3A19-6C19-601223519618}"/>
              </a:ext>
            </a:extLst>
          </p:cNvPr>
          <p:cNvSpPr/>
          <p:nvPr/>
        </p:nvSpPr>
        <p:spPr>
          <a:xfrm>
            <a:off x="8069259" y="2362696"/>
            <a:ext cx="1241989" cy="19050"/>
          </a:xfrm>
          <a:prstGeom prst="rect">
            <a:avLst/>
          </a:prstGeom>
          <a:solidFill>
            <a:srgbClr val="4C3BCF"/>
          </a:solidFill>
          <a:ln/>
        </p:spPr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186663E4-3349-4FC7-2F41-60807672B595}"/>
              </a:ext>
            </a:extLst>
          </p:cNvPr>
          <p:cNvSpPr/>
          <p:nvPr/>
        </p:nvSpPr>
        <p:spPr>
          <a:xfrm>
            <a:off x="10098728" y="2491581"/>
            <a:ext cx="148328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100" spc="63" dirty="0">
                <a:solidFill>
                  <a:srgbClr val="00000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03</a:t>
            </a:r>
            <a:endParaRPr lang="en-US" sz="1050" dirty="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3F169E0B-A98A-DE31-2F13-37D2172A7FF8}"/>
              </a:ext>
            </a:extLst>
          </p:cNvPr>
          <p:cNvSpPr/>
          <p:nvPr/>
        </p:nvSpPr>
        <p:spPr>
          <a:xfrm>
            <a:off x="10098728" y="2362696"/>
            <a:ext cx="1241989" cy="19050"/>
          </a:xfrm>
          <a:prstGeom prst="rect">
            <a:avLst/>
          </a:prstGeom>
          <a:solidFill>
            <a:srgbClr val="4C3BCF"/>
          </a:solidFill>
          <a:ln/>
        </p:spPr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AE95D960-779D-1481-886E-D4ACE684F074}"/>
              </a:ext>
            </a:extLst>
          </p:cNvPr>
          <p:cNvSpPr/>
          <p:nvPr/>
        </p:nvSpPr>
        <p:spPr>
          <a:xfrm>
            <a:off x="8069259" y="2491581"/>
            <a:ext cx="148338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100" spc="63" dirty="0">
                <a:solidFill>
                  <a:srgbClr val="5B657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02</a:t>
            </a:r>
            <a:endParaRPr lang="en-US" sz="1050" dirty="0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0EEF4CC6-DC31-1E3F-E68F-25F3325780AD}"/>
              </a:ext>
            </a:extLst>
          </p:cNvPr>
          <p:cNvSpPr/>
          <p:nvPr/>
        </p:nvSpPr>
        <p:spPr>
          <a:xfrm>
            <a:off x="6039890" y="2491581"/>
            <a:ext cx="148328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100" spc="63" dirty="0">
                <a:solidFill>
                  <a:srgbClr val="5B657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01</a:t>
            </a:r>
            <a:endParaRPr lang="en-US" sz="105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AEAD1526-B4B9-6568-6EA8-81A106F56ECC}"/>
              </a:ext>
            </a:extLst>
          </p:cNvPr>
          <p:cNvSpPr/>
          <p:nvPr/>
        </p:nvSpPr>
        <p:spPr>
          <a:xfrm>
            <a:off x="6039890" y="2728039"/>
            <a:ext cx="124198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Validate</a:t>
            </a:r>
            <a:endParaRPr lang="en-US" sz="1450" dirty="0"/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62025704-01D3-9042-6CC0-32892524F8EF}"/>
              </a:ext>
            </a:extLst>
          </p:cNvPr>
          <p:cNvSpPr/>
          <p:nvPr/>
        </p:nvSpPr>
        <p:spPr>
          <a:xfrm>
            <a:off x="8069259" y="2728039"/>
            <a:ext cx="1242088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F26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Fire breaker</a:t>
            </a:r>
            <a:endParaRPr lang="en-US" sz="1450" dirty="0"/>
          </a:p>
        </p:txBody>
      </p:sp>
      <p:sp>
        <p:nvSpPr>
          <p:cNvPr id="41" name="Text 25">
            <a:extLst>
              <a:ext uri="{FF2B5EF4-FFF2-40B4-BE49-F238E27FC236}">
                <a16:creationId xmlns:a16="http://schemas.microsoft.com/office/drawing/2014/main" id="{7AAFEA26-C58C-64E1-7313-874503D4B15F}"/>
              </a:ext>
            </a:extLst>
          </p:cNvPr>
          <p:cNvSpPr/>
          <p:nvPr/>
        </p:nvSpPr>
        <p:spPr>
          <a:xfrm>
            <a:off x="10098728" y="2728039"/>
            <a:ext cx="1241989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Protect the API</a:t>
            </a:r>
            <a:endParaRPr lang="en-US" sz="1450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DC634443-A841-17E7-AC86-0AF38D66F29D}"/>
              </a:ext>
            </a:extLst>
          </p:cNvPr>
          <p:cNvSpPr/>
          <p:nvPr/>
        </p:nvSpPr>
        <p:spPr>
          <a:xfrm>
            <a:off x="6039890" y="3075682"/>
            <a:ext cx="124198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Zod checks the payout input.</a:t>
            </a:r>
            <a:endParaRPr lang="en-US" sz="1400" dirty="0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BFF23D3D-5FC6-F8E4-A5D3-4A6A2730C856}"/>
              </a:ext>
            </a:extLst>
          </p:cNvPr>
          <p:cNvSpPr/>
          <p:nvPr/>
        </p:nvSpPr>
        <p:spPr>
          <a:xfrm>
            <a:off x="8069259" y="3075682"/>
            <a:ext cx="1242088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A313A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Opossum controls the bank call.</a:t>
            </a:r>
            <a:endParaRPr lang="en-US" sz="1400" dirty="0"/>
          </a:p>
        </p:txBody>
      </p:sp>
      <p:sp>
        <p:nvSpPr>
          <p:cNvPr id="47" name="Text 26">
            <a:extLst>
              <a:ext uri="{FF2B5EF4-FFF2-40B4-BE49-F238E27FC236}">
                <a16:creationId xmlns:a16="http://schemas.microsoft.com/office/drawing/2014/main" id="{D868732A-6303-1B3B-3036-8541848DCA86}"/>
              </a:ext>
            </a:extLst>
          </p:cNvPr>
          <p:cNvSpPr/>
          <p:nvPr/>
        </p:nvSpPr>
        <p:spPr>
          <a:xfrm>
            <a:off x="10098728" y="3296642"/>
            <a:ext cx="1241989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Return 200, 504, or 503 deliberately.</a:t>
            </a:r>
            <a:endParaRPr lang="en-US" sz="140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E3C74862-5857-6746-6627-D466E924BBF0}"/>
              </a:ext>
            </a:extLst>
          </p:cNvPr>
          <p:cNvSpPr/>
          <p:nvPr/>
        </p:nvSpPr>
        <p:spPr>
          <a:xfrm>
            <a:off x="861317" y="1526496"/>
            <a:ext cx="449062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100" spc="63" dirty="0">
                <a:solidFill>
                  <a:srgbClr val="000000"/>
                </a:solidFill>
                <a:latin typeface="B612 Mono Bold" pitchFamily="34" charset="0"/>
                <a:ea typeface="B612 Mono Bold" pitchFamily="34" charset="-122"/>
                <a:cs typeface="B612 Mono Bold" pitchFamily="34" charset="-120"/>
              </a:rPr>
              <a:t>REPRESENTATIVE OUTPUT</a:t>
            </a:r>
            <a:endParaRPr lang="en-US" sz="1050" dirty="0"/>
          </a:p>
        </p:txBody>
      </p:sp>
      <p:sp>
        <p:nvSpPr>
          <p:cNvPr id="59" name="Text 39">
            <a:extLst>
              <a:ext uri="{FF2B5EF4-FFF2-40B4-BE49-F238E27FC236}">
                <a16:creationId xmlns:a16="http://schemas.microsoft.com/office/drawing/2014/main" id="{5D1F792E-0233-9C63-A398-56EAAB084C7E}"/>
              </a:ext>
            </a:extLst>
          </p:cNvPr>
          <p:cNvSpPr/>
          <p:nvPr/>
        </p:nvSpPr>
        <p:spPr>
          <a:xfrm>
            <a:off x="516903" y="6638040"/>
            <a:ext cx="2696760" cy="12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00" kern="100" spc="57">
                <a:solidFill>
                  <a:srgbClr val="5B6570"/>
                </a:solidFill>
                <a:latin typeface="Atkinson Hyperlegible Next"/>
                <a:ea typeface="B612 Mono"/>
              </a:rPr>
              <a:t>Timeouts and Circuit Breakers</a:t>
            </a:r>
            <a:endParaRPr lang="en-US" sz="1400" kern="100" spc="57">
              <a:solidFill>
                <a:srgbClr val="000000"/>
              </a:solidFill>
              <a:latin typeface="Atkinson Hyperlegible Next"/>
              <a:ea typeface="B612 Mono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950" kern="100" spc="57" dirty="0">
              <a:solidFill>
                <a:srgbClr val="2A313A"/>
              </a:solidFill>
              <a:latin typeface="B612 Mono"/>
              <a:ea typeface="B612 Mono"/>
            </a:endParaRPr>
          </a:p>
        </p:txBody>
      </p:sp>
      <p:sp>
        <p:nvSpPr>
          <p:cNvPr id="61" name="Text 40">
            <a:extLst>
              <a:ext uri="{FF2B5EF4-FFF2-40B4-BE49-F238E27FC236}">
                <a16:creationId xmlns:a16="http://schemas.microsoft.com/office/drawing/2014/main" id="{11F26EF6-520B-69D3-D7A8-726D11EDE642}"/>
              </a:ext>
            </a:extLst>
          </p:cNvPr>
          <p:cNvSpPr/>
          <p:nvPr/>
        </p:nvSpPr>
        <p:spPr>
          <a:xfrm>
            <a:off x="11419495" y="6481465"/>
            <a:ext cx="772200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7000"/>
              </a:lnSpc>
            </a:pPr>
            <a:r>
              <a:rPr lang="en-US" sz="950" kern="100" spc="57">
                <a:solidFill>
                  <a:srgbClr val="2A313A"/>
                </a:solidFill>
                <a:latin typeface="B612 Mono"/>
                <a:ea typeface="B612 Mono"/>
                <a:cs typeface="B612 Mono" pitchFamily="34" charset="-120"/>
              </a:rPr>
              <a:t>10 / 10</a:t>
            </a:r>
            <a:endParaRPr lang="en-US" sz="950">
              <a:latin typeface="B612 Mono"/>
              <a:ea typeface="B612 Mono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0C9691-3C9A-7AA0-56E5-2B45A6A3B7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" t="4902" r="290" b="-956"/>
          <a:stretch>
            <a:fillRect/>
          </a:stretch>
        </p:blipFill>
        <p:spPr>
          <a:xfrm>
            <a:off x="859551" y="1766105"/>
            <a:ext cx="3580229" cy="4096932"/>
          </a:xfrm>
          <a:prstGeom prst="rect">
            <a:avLst/>
          </a:prstGeom>
        </p:spPr>
      </p:pic>
      <p:sp>
        <p:nvSpPr>
          <p:cNvPr id="8" name="Shape 9">
            <a:extLst>
              <a:ext uri="{FF2B5EF4-FFF2-40B4-BE49-F238E27FC236}">
                <a16:creationId xmlns:a16="http://schemas.microsoft.com/office/drawing/2014/main" id="{53C91517-61F1-41D1-37CA-28DE985FD098}"/>
              </a:ext>
            </a:extLst>
          </p:cNvPr>
          <p:cNvSpPr/>
          <p:nvPr/>
        </p:nvSpPr>
        <p:spPr>
          <a:xfrm>
            <a:off x="5797448" y="4919437"/>
            <a:ext cx="5779281" cy="1097443"/>
          </a:xfrm>
          <a:prstGeom prst="roundRect">
            <a:avLst>
              <a:gd name="adj" fmla="val 810"/>
            </a:avLst>
          </a:prstGeom>
          <a:solidFill>
            <a:srgbClr val="F0F3EC"/>
          </a:solidFill>
          <a:ln/>
        </p:spPr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6EC4204F-4701-11A8-79CB-EF323EEFC285}"/>
              </a:ext>
            </a:extLst>
          </p:cNvPr>
          <p:cNvSpPr/>
          <p:nvPr/>
        </p:nvSpPr>
        <p:spPr>
          <a:xfrm>
            <a:off x="6032850" y="5046773"/>
            <a:ext cx="1682842" cy="942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24292E"/>
                </a:solidFill>
                <a:latin typeface="Consolas"/>
                <a:ea typeface="Consolas" pitchFamily="34" charset="-122"/>
                <a:cs typeface="Consolas" pitchFamily="34" charset="-120"/>
              </a:rPr>
              <a:t>BREAKER FAILURE</a:t>
            </a:r>
            <a:endParaRPr lang="en-US" sz="1400" b="1" dirty="0">
              <a:solidFill>
                <a:srgbClr val="24292E"/>
              </a:solidFill>
              <a:latin typeface="Consolas"/>
            </a:endParaRPr>
          </a:p>
          <a:p>
            <a:pPr>
              <a:lnSpc>
                <a:spcPct val="133000"/>
              </a:lnSpc>
            </a:pPr>
            <a:endParaRPr lang="en-US" sz="1400" b="1" dirty="0">
              <a:solidFill>
                <a:srgbClr val="24292E"/>
              </a:solidFill>
              <a:latin typeface="Consolas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24292E"/>
                </a:solidFill>
                <a:latin typeface="Consolas"/>
                <a:ea typeface="Consolas" pitchFamily="34" charset="-122"/>
                <a:cs typeface="Consolas" pitchFamily="34" charset="-120"/>
              </a:rPr>
              <a:t>BREAKER TIMEOUT</a:t>
            </a:r>
            <a:endParaRPr lang="en-US" sz="1400" b="1">
              <a:latin typeface="Consolas"/>
            </a:endParaRP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7FF8A687-9C9D-4054-C62D-CE909F379F80}"/>
              </a:ext>
            </a:extLst>
          </p:cNvPr>
          <p:cNvSpPr/>
          <p:nvPr/>
        </p:nvSpPr>
        <p:spPr>
          <a:xfrm>
            <a:off x="7943069" y="5046773"/>
            <a:ext cx="1735033" cy="942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24292E"/>
                </a:solidFill>
                <a:latin typeface="Consolas"/>
                <a:ea typeface="Consolas" pitchFamily="34" charset="-122"/>
                <a:cs typeface="Consolas" pitchFamily="34" charset="-120"/>
              </a:rPr>
              <a:t>CIRCUIT OPEN</a:t>
            </a:r>
            <a:endParaRPr lang="en-US" sz="1400" b="1" dirty="0">
              <a:solidFill>
                <a:srgbClr val="24292E"/>
              </a:solidFill>
              <a:latin typeface="Consolas"/>
            </a:endParaRPr>
          </a:p>
          <a:p>
            <a:pPr>
              <a:lnSpc>
                <a:spcPct val="133000"/>
              </a:lnSpc>
            </a:pPr>
            <a:endParaRPr lang="en-US" sz="1400" b="1" dirty="0">
              <a:solidFill>
                <a:srgbClr val="24292E"/>
              </a:solidFill>
              <a:latin typeface="Consolas"/>
              <a:ea typeface="Consolas" pitchFamily="34" charset="-122"/>
              <a:cs typeface="Consolas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24292E"/>
                </a:solidFill>
                <a:latin typeface="Consolas"/>
                <a:ea typeface="Consolas" pitchFamily="34" charset="-122"/>
                <a:cs typeface="Consolas" pitchFamily="34" charset="-120"/>
              </a:rPr>
              <a:t>CIRCUIT HALF-OPEN</a:t>
            </a:r>
            <a:endParaRPr lang="en-US" sz="1400" b="1">
              <a:latin typeface="Consolas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6766F3F9-A1A8-8966-76EA-5625190D9708}"/>
              </a:ext>
            </a:extLst>
          </p:cNvPr>
          <p:cNvSpPr/>
          <p:nvPr/>
        </p:nvSpPr>
        <p:spPr>
          <a:xfrm>
            <a:off x="9978549" y="5046773"/>
            <a:ext cx="1735033" cy="576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400" b="1" dirty="0">
              <a:solidFill>
                <a:srgbClr val="24292E"/>
              </a:solidFill>
              <a:latin typeface="Consolas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24292E"/>
                </a:solidFill>
                <a:latin typeface="Consolas"/>
                <a:ea typeface="Consolas" pitchFamily="34" charset="-122"/>
                <a:cs typeface="Consolas" pitchFamily="34" charset="-120"/>
              </a:rPr>
              <a:t>CIRCUIT CLOSED</a:t>
            </a:r>
            <a:endParaRPr lang="en-US" sz="1400" b="1">
              <a:latin typeface="Consola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D5AA7E-4175-EA3A-DB1A-85A70D4CDC87}"/>
              </a:ext>
            </a:extLst>
          </p:cNvPr>
          <p:cNvSpPr/>
          <p:nvPr/>
        </p:nvSpPr>
        <p:spPr>
          <a:xfrm>
            <a:off x="5786189" y="4923564"/>
            <a:ext cx="20961" cy="1085172"/>
          </a:xfrm>
          <a:prstGeom prst="rect">
            <a:avLst/>
          </a:prstGeom>
          <a:solidFill>
            <a:srgbClr val="26845B"/>
          </a:solidFill>
          <a:ln w="12700">
            <a:solidFill>
              <a:srgbClr val="2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42757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>
            <a:extLst>
              <a:ext uri="{FF2B5EF4-FFF2-40B4-BE49-F238E27FC236}">
                <a16:creationId xmlns:a16="http://schemas.microsoft.com/office/drawing/2014/main" id="{71FD60D9-8B50-1454-A4DC-3ADCCEBBA2B4}"/>
              </a:ext>
            </a:extLst>
          </p:cNvPr>
          <p:cNvSpPr/>
          <p:nvPr/>
        </p:nvSpPr>
        <p:spPr>
          <a:xfrm>
            <a:off x="651338" y="968870"/>
            <a:ext cx="10890551" cy="4720034"/>
          </a:xfrm>
          <a:prstGeom prst="roundRect">
            <a:avLst>
              <a:gd name="adj" fmla="val 1614"/>
            </a:avLst>
          </a:prstGeom>
          <a:solidFill>
            <a:srgbClr val="E8E5FA"/>
          </a:solidFill>
          <a:ln w="12700">
            <a:solidFill>
              <a:srgbClr val="4C3BCF"/>
            </a:solidFill>
            <a:prstDash val="solid"/>
          </a:ln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B7C7AA-CF9D-33FD-A56D-C7095F22C12F}"/>
              </a:ext>
            </a:extLst>
          </p:cNvPr>
          <p:cNvSpPr txBox="1"/>
          <p:nvPr/>
        </p:nvSpPr>
        <p:spPr>
          <a:xfrm>
            <a:off x="5152067" y="2480696"/>
            <a:ext cx="1897692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>
                <a:latin typeface="Angsana New"/>
                <a:cs typeface="Angsana New"/>
              </a:rPr>
              <a:t>T H A N K</a:t>
            </a:r>
          </a:p>
          <a:p>
            <a:r>
              <a:rPr lang="en-US" sz="4400">
                <a:latin typeface="Angsana New"/>
                <a:cs typeface="Angsana New"/>
              </a:rPr>
              <a:t>   Y O U</a:t>
            </a:r>
          </a:p>
        </p:txBody>
      </p:sp>
    </p:spTree>
    <p:extLst>
      <p:ext uri="{BB962C8B-B14F-4D97-AF65-F5344CB8AC3E}">
        <p14:creationId xmlns:p14="http://schemas.microsoft.com/office/powerpoint/2010/main" val="1033346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561</cp:revision>
  <dcterms:created xsi:type="dcterms:W3CDTF">2026-10-15T17:56:56Z</dcterms:created>
  <dcterms:modified xsi:type="dcterms:W3CDTF">2026-10-16T05:51:14Z</dcterms:modified>
</cp:coreProperties>
</file>